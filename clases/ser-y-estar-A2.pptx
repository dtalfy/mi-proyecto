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el tema con los dos ejemplos del título. Pregunta: Do you know why Spanish needs two verbs here? No des la respuesta todavía.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inglés hay un solo verbo, to be. En español hay dos. Deja que los estudiantes adivinen la diferencia antes de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inglés hay un solo verbo, to be. En español hay dos. Deja que los estudiantes adivinen la diferencia antes de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Repaso rápido. Señala las tildes: estás, está, están. Pronunciación: el acento va en la última sílaba (es-TÁS).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 responde a la pregunta «¿cómo es?». Pide a cada estudiante una frase sobre su familia.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regla que más sorprende: un evento «es» en un lugar. Compárala luego con estar + lugar.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Estar responde a «¿cómo está?». Truco: si en inglés puedes decir «right now», suele ser estar.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Contrasta con la diapositiva de eventos: la fiesta ES en casa, pero la casa ESTÁ en Madrid.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Avanza fila por fila. Antes de cada clic, pide que adivinen la explicación.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Avanza fila por fila. Antes de cada clic, pide que adivinen la explicación.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Avanza fila por fila. Antes de cada clic, pide que adivinen la explicación.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Avanza fila por fila. Antes de cada clic, pide que adivinen la explicación.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 la frase en inglés y pide la traducción antes de mostrarla. La etiqueta indica qué regla se aplica.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Mnemotecnia muy usada con angloparlantes. Aclara que es una ayuda, no una regla perfecta (ver la curiosidad de «está muerto»).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Aburrido es el mejor ejemplo para angloparlantes: boring / bored. Practica con mímica.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Lectura en voz alta. Después, los estudiantes explican cada verbo con DOCTOR /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Errores reales de estudiantes angloparlantes. Pide que expliquen la corrección en inglés.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muerte es permanente, pero se usa estar: estar expresa el resultado de un cambio (vivo → muerto). Por eso «permanente = ser» es solo una ayuda.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primer ítem está resuelto como modelo. 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primer ítem está resuelto como modelo. 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Corrijan juntos. Si hay errores, vuelvan a la regla que lo explica.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final para fotografiar o descargar.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Despedida. Tarea: escribir 5 frases sobre tu día con ser y estar.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logo" descr="logo-icono-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56692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1" i="0">
                <a:solidFill>
                  <a:srgbClr val="F7F1EA"/>
                </a:solidFill>
                <a:latin typeface="+mj-lt"/>
              </a:rPr>
              <a:t>Spanish </a:t>
            </a:r>
            <a:r>
              <a:rPr sz="2000" b="1" i="0">
                <a:solidFill>
                  <a:srgbClr val="E9B44C"/>
                </a:solidFill>
                <a:latin typeface="+mj-lt"/>
              </a:rPr>
              <a:t>with alfy</a:t>
            </a:r>
          </a:p>
        </p:txBody>
      </p:sp>
      <p:sp>
        <p:nvSpPr>
          <p:cNvPr id="4" name="!!portada_titulo"/>
          <p:cNvSpPr txBox="1"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  <a:spcAft>
                <a:spcPts val="1820"/>
              </a:spcAft>
            </a:pPr>
            <a:r>
              <a:rPr sz="5200" b="1" i="0">
                <a:solidFill>
                  <a:srgbClr val="F7F1EA"/>
                </a:solidFill>
                <a:latin typeface="+mj-lt"/>
              </a:rPr>
              <a:t>soy alegre </a:t>
            </a:r>
            <a:r>
              <a:rPr sz="5200" b="1" i="1">
                <a:solidFill>
                  <a:srgbClr val="6B6560"/>
                </a:solidFill>
                <a:latin typeface="+mj-lt"/>
              </a:rPr>
              <a:t>/</a:t>
            </a:r>
            <a:r>
              <a:rPr sz="5200" b="1" i="0">
                <a:solidFill>
                  <a:srgbClr val="F7F1EA"/>
                </a:solidFill>
                <a:latin typeface="+mj-lt"/>
              </a:rPr>
              <a:t> </a:t>
            </a:r>
            <a:r>
              <a:rPr sz="5200" b="1" i="0">
                <a:solidFill>
                  <a:srgbClr val="E9B44C"/>
                </a:solidFill>
                <a:latin typeface="+mj-lt"/>
              </a:rPr>
              <a:t>estoy alegre</a:t>
            </a:r>
          </a:p>
        </p:txBody>
      </p:sp>
      <p:sp>
        <p:nvSpPr>
          <p:cNvPr id="5" name="!!portada_sub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910"/>
              </a:spcAft>
            </a:pPr>
            <a:r>
              <a:rPr sz="2600" b="0" i="0">
                <a:solidFill>
                  <a:srgbClr val="F7F1EA"/>
                </a:solidFill>
                <a:latin typeface="+mn-lt"/>
              </a:rPr>
              <a:t>Ser y estar: cuándo usar cada uno</a:t>
            </a:r>
          </a:p>
        </p:txBody>
      </p:sp>
      <p:sp>
        <p:nvSpPr>
          <p:cNvPr id="6" name="!!pildora"/>
          <p:cNvSpPr/>
          <p:nvPr/>
        </p:nvSpPr>
        <p:spPr>
          <a:xfrm>
            <a:off x="5272887" y="3931920"/>
            <a:ext cx="1645920" cy="583184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+mn-lt"/>
              </a:rPr>
              <a:t>Nivel A2</a:t>
            </a:r>
          </a:p>
        </p:txBody>
      </p:sp>
      <p:sp>
        <p:nvSpPr>
          <p:cNvPr id="7" name="!!onda0"/>
          <p:cNvSpPr/>
          <p:nvPr/>
        </p:nvSpPr>
        <p:spPr>
          <a:xfrm>
            <a:off x="0" y="5550464"/>
            <a:ext cx="12191695" cy="511993"/>
          </a:xfrm>
          <a:custGeom>
            <a:avLst/>
            <a:gdLst/>
            <a:ahLst/>
            <a:cxnLst/>
            <a:rect l="l" t="t" r="r" b="b"/>
            <a:pathLst>
              <a:path w="12191695" h="511993">
                <a:moveTo>
                  <a:pt x="0" y="255976"/>
                </a:moveTo>
                <a:lnTo>
                  <a:pt x="101597" y="274727"/>
                </a:lnTo>
                <a:lnTo>
                  <a:pt x="203194" y="293377"/>
                </a:lnTo>
                <a:lnTo>
                  <a:pt x="304792" y="311827"/>
                </a:lnTo>
                <a:lnTo>
                  <a:pt x="406389" y="329977"/>
                </a:lnTo>
                <a:lnTo>
                  <a:pt x="507987" y="347729"/>
                </a:lnTo>
                <a:lnTo>
                  <a:pt x="609584" y="364989"/>
                </a:lnTo>
                <a:lnTo>
                  <a:pt x="711182" y="381663"/>
                </a:lnTo>
                <a:lnTo>
                  <a:pt x="812779" y="397661"/>
                </a:lnTo>
                <a:lnTo>
                  <a:pt x="914377" y="412899"/>
                </a:lnTo>
                <a:lnTo>
                  <a:pt x="1015974" y="427294"/>
                </a:lnTo>
                <a:lnTo>
                  <a:pt x="1117572" y="440769"/>
                </a:lnTo>
                <a:lnTo>
                  <a:pt x="1219169" y="453252"/>
                </a:lnTo>
                <a:lnTo>
                  <a:pt x="1320766" y="464674"/>
                </a:lnTo>
                <a:lnTo>
                  <a:pt x="1422364" y="474976"/>
                </a:lnTo>
                <a:lnTo>
                  <a:pt x="1523961" y="484102"/>
                </a:lnTo>
                <a:lnTo>
                  <a:pt x="1625559" y="492002"/>
                </a:lnTo>
                <a:lnTo>
                  <a:pt x="1727156" y="498635"/>
                </a:lnTo>
                <a:lnTo>
                  <a:pt x="1828754" y="503964"/>
                </a:lnTo>
                <a:lnTo>
                  <a:pt x="1930351" y="507961"/>
                </a:lnTo>
                <a:lnTo>
                  <a:pt x="2031949" y="510605"/>
                </a:lnTo>
                <a:lnTo>
                  <a:pt x="2133546" y="511881"/>
                </a:lnTo>
                <a:lnTo>
                  <a:pt x="2235144" y="511783"/>
                </a:lnTo>
                <a:lnTo>
                  <a:pt x="2336741" y="510311"/>
                </a:lnTo>
                <a:lnTo>
                  <a:pt x="2438339" y="507472"/>
                </a:lnTo>
                <a:lnTo>
                  <a:pt x="2539936" y="503283"/>
                </a:lnTo>
                <a:lnTo>
                  <a:pt x="2641533" y="497766"/>
                </a:lnTo>
                <a:lnTo>
                  <a:pt x="2743131" y="490950"/>
                </a:lnTo>
                <a:lnTo>
                  <a:pt x="2844728" y="482872"/>
                </a:lnTo>
                <a:lnTo>
                  <a:pt x="2946326" y="473575"/>
                </a:lnTo>
                <a:lnTo>
                  <a:pt x="3047923" y="463110"/>
                </a:lnTo>
                <a:lnTo>
                  <a:pt x="3149521" y="451532"/>
                </a:lnTo>
                <a:lnTo>
                  <a:pt x="3251118" y="438903"/>
                </a:lnTo>
                <a:lnTo>
                  <a:pt x="3352716" y="425292"/>
                </a:lnTo>
                <a:lnTo>
                  <a:pt x="3454313" y="410772"/>
                </a:lnTo>
                <a:lnTo>
                  <a:pt x="3555911" y="395421"/>
                </a:lnTo>
                <a:lnTo>
                  <a:pt x="3657508" y="379320"/>
                </a:lnTo>
                <a:lnTo>
                  <a:pt x="3759106" y="362557"/>
                </a:lnTo>
                <a:lnTo>
                  <a:pt x="3860703" y="345221"/>
                </a:lnTo>
                <a:lnTo>
                  <a:pt x="3962300" y="327406"/>
                </a:lnTo>
                <a:lnTo>
                  <a:pt x="4063898" y="309208"/>
                </a:lnTo>
                <a:lnTo>
                  <a:pt x="4165495" y="290723"/>
                </a:lnTo>
                <a:lnTo>
                  <a:pt x="4267093" y="272052"/>
                </a:lnTo>
                <a:lnTo>
                  <a:pt x="4368690" y="253294"/>
                </a:lnTo>
                <a:lnTo>
                  <a:pt x="4470288" y="234551"/>
                </a:lnTo>
                <a:lnTo>
                  <a:pt x="4571885" y="215923"/>
                </a:lnTo>
                <a:lnTo>
                  <a:pt x="4673483" y="197510"/>
                </a:lnTo>
                <a:lnTo>
                  <a:pt x="4775080" y="179411"/>
                </a:lnTo>
                <a:lnTo>
                  <a:pt x="4876678" y="161724"/>
                </a:lnTo>
                <a:lnTo>
                  <a:pt x="4978275" y="144542"/>
                </a:lnTo>
                <a:lnTo>
                  <a:pt x="5079873" y="127960"/>
                </a:lnTo>
                <a:lnTo>
                  <a:pt x="5181470" y="112064"/>
                </a:lnTo>
                <a:lnTo>
                  <a:pt x="5283067" y="96942"/>
                </a:lnTo>
                <a:lnTo>
                  <a:pt x="5384665" y="82674"/>
                </a:lnTo>
                <a:lnTo>
                  <a:pt x="5486262" y="69336"/>
                </a:lnTo>
                <a:lnTo>
                  <a:pt x="5587860" y="57001"/>
                </a:lnTo>
                <a:lnTo>
                  <a:pt x="5689457" y="45735"/>
                </a:lnTo>
                <a:lnTo>
                  <a:pt x="5791055" y="35598"/>
                </a:lnTo>
                <a:lnTo>
                  <a:pt x="5892652" y="26645"/>
                </a:lnTo>
                <a:lnTo>
                  <a:pt x="5994250" y="18923"/>
                </a:lnTo>
                <a:lnTo>
                  <a:pt x="6095847" y="12475"/>
                </a:lnTo>
                <a:lnTo>
                  <a:pt x="6197445" y="7334"/>
                </a:lnTo>
                <a:lnTo>
                  <a:pt x="6299042" y="3529"/>
                </a:lnTo>
                <a:lnTo>
                  <a:pt x="6400639" y="1080"/>
                </a:lnTo>
                <a:lnTo>
                  <a:pt x="6502237" y="0"/>
                </a:lnTo>
                <a:lnTo>
                  <a:pt x="6603834" y="294"/>
                </a:lnTo>
                <a:lnTo>
                  <a:pt x="6705432" y="1962"/>
                </a:lnTo>
                <a:lnTo>
                  <a:pt x="6807029" y="4995"/>
                </a:lnTo>
                <a:lnTo>
                  <a:pt x="6908627" y="9375"/>
                </a:lnTo>
                <a:lnTo>
                  <a:pt x="7010224" y="15080"/>
                </a:lnTo>
                <a:lnTo>
                  <a:pt x="7111822" y="22079"/>
                </a:lnTo>
                <a:lnTo>
                  <a:pt x="7213419" y="30334"/>
                </a:lnTo>
                <a:lnTo>
                  <a:pt x="7315017" y="39801"/>
                </a:lnTo>
                <a:lnTo>
                  <a:pt x="7416614" y="50429"/>
                </a:lnTo>
                <a:lnTo>
                  <a:pt x="7518212" y="62161"/>
                </a:lnTo>
                <a:lnTo>
                  <a:pt x="7619809" y="74934"/>
                </a:lnTo>
                <a:lnTo>
                  <a:pt x="7721406" y="88679"/>
                </a:lnTo>
                <a:lnTo>
                  <a:pt x="7823004" y="103323"/>
                </a:lnTo>
                <a:lnTo>
                  <a:pt x="7924601" y="118787"/>
                </a:lnTo>
                <a:lnTo>
                  <a:pt x="8026199" y="134987"/>
                </a:lnTo>
                <a:lnTo>
                  <a:pt x="8127796" y="151838"/>
                </a:lnTo>
                <a:lnTo>
                  <a:pt x="8229394" y="169248"/>
                </a:lnTo>
                <a:lnTo>
                  <a:pt x="8330991" y="187123"/>
                </a:lnTo>
                <a:lnTo>
                  <a:pt x="8432589" y="205369"/>
                </a:lnTo>
                <a:lnTo>
                  <a:pt x="8534186" y="223886"/>
                </a:lnTo>
                <a:lnTo>
                  <a:pt x="8635784" y="242576"/>
                </a:lnTo>
                <a:lnTo>
                  <a:pt x="8737381" y="261337"/>
                </a:lnTo>
                <a:lnTo>
                  <a:pt x="8838979" y="280070"/>
                </a:lnTo>
                <a:lnTo>
                  <a:pt x="8940576" y="298674"/>
                </a:lnTo>
                <a:lnTo>
                  <a:pt x="9042173" y="317048"/>
                </a:lnTo>
                <a:lnTo>
                  <a:pt x="9143771" y="335094"/>
                </a:lnTo>
                <a:lnTo>
                  <a:pt x="9245368" y="352715"/>
                </a:lnTo>
                <a:lnTo>
                  <a:pt x="9346966" y="369816"/>
                </a:lnTo>
                <a:lnTo>
                  <a:pt x="9448563" y="386306"/>
                </a:lnTo>
                <a:lnTo>
                  <a:pt x="9550161" y="402096"/>
                </a:lnTo>
                <a:lnTo>
                  <a:pt x="9651758" y="417102"/>
                </a:lnTo>
                <a:lnTo>
                  <a:pt x="9753356" y="431241"/>
                </a:lnTo>
                <a:lnTo>
                  <a:pt x="9854953" y="444440"/>
                </a:lnTo>
                <a:lnTo>
                  <a:pt x="9956551" y="456626"/>
                </a:lnTo>
                <a:lnTo>
                  <a:pt x="10058148" y="467735"/>
                </a:lnTo>
                <a:lnTo>
                  <a:pt x="10159746" y="477706"/>
                </a:lnTo>
                <a:lnTo>
                  <a:pt x="10261343" y="486486"/>
                </a:lnTo>
                <a:lnTo>
                  <a:pt x="10362940" y="494028"/>
                </a:lnTo>
                <a:lnTo>
                  <a:pt x="10464538" y="500292"/>
                </a:lnTo>
                <a:lnTo>
                  <a:pt x="10566135" y="505243"/>
                </a:lnTo>
                <a:lnTo>
                  <a:pt x="10667733" y="508855"/>
                </a:lnTo>
                <a:lnTo>
                  <a:pt x="10769330" y="511110"/>
                </a:lnTo>
                <a:lnTo>
                  <a:pt x="10870928" y="511993"/>
                </a:lnTo>
                <a:lnTo>
                  <a:pt x="10972525" y="511502"/>
                </a:lnTo>
                <a:lnTo>
                  <a:pt x="11074123" y="509639"/>
                </a:lnTo>
                <a:lnTo>
                  <a:pt x="11175720" y="506413"/>
                </a:lnTo>
                <a:lnTo>
                  <a:pt x="11277318" y="501841"/>
                </a:lnTo>
                <a:lnTo>
                  <a:pt x="11378915" y="495950"/>
                </a:lnTo>
                <a:lnTo>
                  <a:pt x="11480512" y="488769"/>
                </a:lnTo>
                <a:lnTo>
                  <a:pt x="11582110" y="480338"/>
                </a:lnTo>
                <a:lnTo>
                  <a:pt x="11683707" y="470702"/>
                </a:lnTo>
                <a:lnTo>
                  <a:pt x="11785305" y="459913"/>
                </a:lnTo>
                <a:lnTo>
                  <a:pt x="11886902" y="448028"/>
                </a:lnTo>
                <a:lnTo>
                  <a:pt x="11988500" y="435112"/>
                </a:lnTo>
                <a:lnTo>
                  <a:pt x="12090097" y="421233"/>
                </a:lnTo>
                <a:lnTo>
                  <a:pt x="12191695" y="406467"/>
                </a:lnTo>
              </a:path>
            </a:pathLst>
          </a:custGeom>
          <a:noFill/>
          <a:ln w="127000" cap="rnd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nda1"/>
          <p:cNvSpPr/>
          <p:nvPr/>
        </p:nvSpPr>
        <p:spPr>
          <a:xfrm>
            <a:off x="0" y="5678519"/>
            <a:ext cx="12191695" cy="511932"/>
          </a:xfrm>
          <a:custGeom>
            <a:avLst/>
            <a:gdLst/>
            <a:ahLst/>
            <a:cxnLst/>
            <a:rect l="l" t="t" r="r" b="b"/>
            <a:pathLst>
              <a:path w="12191695" h="511932">
                <a:moveTo>
                  <a:pt x="0" y="439603"/>
                </a:moveTo>
                <a:lnTo>
                  <a:pt x="101597" y="452174"/>
                </a:lnTo>
                <a:lnTo>
                  <a:pt x="203194" y="463690"/>
                </a:lnTo>
                <a:lnTo>
                  <a:pt x="304792" y="474092"/>
                </a:lnTo>
                <a:lnTo>
                  <a:pt x="406389" y="483321"/>
                </a:lnTo>
                <a:lnTo>
                  <a:pt x="507987" y="491329"/>
                </a:lnTo>
                <a:lnTo>
                  <a:pt x="609584" y="498073"/>
                </a:lnTo>
                <a:lnTo>
                  <a:pt x="711182" y="503516"/>
                </a:lnTo>
                <a:lnTo>
                  <a:pt x="812779" y="507629"/>
                </a:lnTo>
                <a:lnTo>
                  <a:pt x="914377" y="510391"/>
                </a:lnTo>
                <a:lnTo>
                  <a:pt x="1015974" y="511786"/>
                </a:lnTo>
                <a:lnTo>
                  <a:pt x="1117572" y="511807"/>
                </a:lnTo>
                <a:lnTo>
                  <a:pt x="1219169" y="510453"/>
                </a:lnTo>
                <a:lnTo>
                  <a:pt x="1320766" y="507733"/>
                </a:lnTo>
                <a:lnTo>
                  <a:pt x="1422364" y="503660"/>
                </a:lnTo>
                <a:lnTo>
                  <a:pt x="1523961" y="498256"/>
                </a:lnTo>
                <a:lnTo>
                  <a:pt x="1625559" y="491551"/>
                </a:lnTo>
                <a:lnTo>
                  <a:pt x="1727156" y="483581"/>
                </a:lnTo>
                <a:lnTo>
                  <a:pt x="1828754" y="474388"/>
                </a:lnTo>
                <a:lnTo>
                  <a:pt x="1930351" y="464021"/>
                </a:lnTo>
                <a:lnTo>
                  <a:pt x="2031949" y="452537"/>
                </a:lnTo>
                <a:lnTo>
                  <a:pt x="2133546" y="439997"/>
                </a:lnTo>
                <a:lnTo>
                  <a:pt x="2235144" y="426468"/>
                </a:lnTo>
                <a:lnTo>
                  <a:pt x="2336741" y="412023"/>
                </a:lnTo>
                <a:lnTo>
                  <a:pt x="2438339" y="396741"/>
                </a:lnTo>
                <a:lnTo>
                  <a:pt x="2539936" y="380701"/>
                </a:lnTo>
                <a:lnTo>
                  <a:pt x="2641533" y="363992"/>
                </a:lnTo>
                <a:lnTo>
                  <a:pt x="2743131" y="346702"/>
                </a:lnTo>
                <a:lnTo>
                  <a:pt x="2844728" y="328925"/>
                </a:lnTo>
                <a:lnTo>
                  <a:pt x="2946326" y="310756"/>
                </a:lnTo>
                <a:lnTo>
                  <a:pt x="3047923" y="292292"/>
                </a:lnTo>
                <a:lnTo>
                  <a:pt x="3149521" y="273633"/>
                </a:lnTo>
                <a:lnTo>
                  <a:pt x="3251118" y="254879"/>
                </a:lnTo>
                <a:lnTo>
                  <a:pt x="3352716" y="236131"/>
                </a:lnTo>
                <a:lnTo>
                  <a:pt x="3454313" y="217489"/>
                </a:lnTo>
                <a:lnTo>
                  <a:pt x="3555911" y="199053"/>
                </a:lnTo>
                <a:lnTo>
                  <a:pt x="3657508" y="180923"/>
                </a:lnTo>
                <a:lnTo>
                  <a:pt x="3759106" y="163196"/>
                </a:lnTo>
                <a:lnTo>
                  <a:pt x="3860703" y="145968"/>
                </a:lnTo>
                <a:lnTo>
                  <a:pt x="3962300" y="129329"/>
                </a:lnTo>
                <a:lnTo>
                  <a:pt x="4063898" y="113371"/>
                </a:lnTo>
                <a:lnTo>
                  <a:pt x="4165495" y="98179"/>
                </a:lnTo>
                <a:lnTo>
                  <a:pt x="4267093" y="83833"/>
                </a:lnTo>
                <a:lnTo>
                  <a:pt x="4368690" y="70413"/>
                </a:lnTo>
                <a:lnTo>
                  <a:pt x="4470288" y="57988"/>
                </a:lnTo>
                <a:lnTo>
                  <a:pt x="4571885" y="46627"/>
                </a:lnTo>
                <a:lnTo>
                  <a:pt x="4673483" y="36390"/>
                </a:lnTo>
                <a:lnTo>
                  <a:pt x="4775080" y="27332"/>
                </a:lnTo>
                <a:lnTo>
                  <a:pt x="4876678" y="19502"/>
                </a:lnTo>
                <a:lnTo>
                  <a:pt x="4978275" y="12942"/>
                </a:lnTo>
                <a:lnTo>
                  <a:pt x="5079873" y="7687"/>
                </a:lnTo>
                <a:lnTo>
                  <a:pt x="5181470" y="3766"/>
                </a:lnTo>
                <a:lnTo>
                  <a:pt x="5283067" y="1199"/>
                </a:lnTo>
                <a:lnTo>
                  <a:pt x="5384665" y="0"/>
                </a:lnTo>
                <a:lnTo>
                  <a:pt x="5486262" y="176"/>
                </a:lnTo>
                <a:lnTo>
                  <a:pt x="5587860" y="1725"/>
                </a:lnTo>
                <a:lnTo>
                  <a:pt x="5689457" y="4640"/>
                </a:lnTo>
                <a:lnTo>
                  <a:pt x="5791055" y="8904"/>
                </a:lnTo>
                <a:lnTo>
                  <a:pt x="5892652" y="14496"/>
                </a:lnTo>
                <a:lnTo>
                  <a:pt x="5994250" y="21384"/>
                </a:lnTo>
                <a:lnTo>
                  <a:pt x="6095847" y="29532"/>
                </a:lnTo>
                <a:lnTo>
                  <a:pt x="6197445" y="38896"/>
                </a:lnTo>
                <a:lnTo>
                  <a:pt x="6299042" y="49426"/>
                </a:lnTo>
                <a:lnTo>
                  <a:pt x="6400639" y="61064"/>
                </a:lnTo>
                <a:lnTo>
                  <a:pt x="6502237" y="73750"/>
                </a:lnTo>
                <a:lnTo>
                  <a:pt x="6603834" y="87414"/>
                </a:lnTo>
                <a:lnTo>
                  <a:pt x="6705432" y="101983"/>
                </a:lnTo>
                <a:lnTo>
                  <a:pt x="6807029" y="117379"/>
                </a:lnTo>
                <a:lnTo>
                  <a:pt x="6908627" y="133520"/>
                </a:lnTo>
                <a:lnTo>
                  <a:pt x="7010224" y="150318"/>
                </a:lnTo>
                <a:lnTo>
                  <a:pt x="7111822" y="167683"/>
                </a:lnTo>
                <a:lnTo>
                  <a:pt x="7213419" y="185522"/>
                </a:lnTo>
                <a:lnTo>
                  <a:pt x="7315017" y="203739"/>
                </a:lnTo>
                <a:lnTo>
                  <a:pt x="7416614" y="222237"/>
                </a:lnTo>
                <a:lnTo>
                  <a:pt x="7518212" y="240916"/>
                </a:lnTo>
                <a:lnTo>
                  <a:pt x="7619809" y="259675"/>
                </a:lnTo>
                <a:lnTo>
                  <a:pt x="7721406" y="278414"/>
                </a:lnTo>
                <a:lnTo>
                  <a:pt x="7823004" y="297033"/>
                </a:lnTo>
                <a:lnTo>
                  <a:pt x="7924601" y="315431"/>
                </a:lnTo>
                <a:lnTo>
                  <a:pt x="8026199" y="333509"/>
                </a:lnTo>
                <a:lnTo>
                  <a:pt x="8127796" y="351170"/>
                </a:lnTo>
                <a:lnTo>
                  <a:pt x="8229394" y="368321"/>
                </a:lnTo>
                <a:lnTo>
                  <a:pt x="8330991" y="384867"/>
                </a:lnTo>
                <a:lnTo>
                  <a:pt x="8432589" y="400721"/>
                </a:lnTo>
                <a:lnTo>
                  <a:pt x="8534186" y="415798"/>
                </a:lnTo>
                <a:lnTo>
                  <a:pt x="8635784" y="430015"/>
                </a:lnTo>
                <a:lnTo>
                  <a:pt x="8737381" y="443298"/>
                </a:lnTo>
                <a:lnTo>
                  <a:pt x="8838979" y="455574"/>
                </a:lnTo>
                <a:lnTo>
                  <a:pt x="8940576" y="466779"/>
                </a:lnTo>
                <a:lnTo>
                  <a:pt x="9042173" y="476850"/>
                </a:lnTo>
                <a:lnTo>
                  <a:pt x="9143771" y="485736"/>
                </a:lnTo>
                <a:lnTo>
                  <a:pt x="9245368" y="493386"/>
                </a:lnTo>
                <a:lnTo>
                  <a:pt x="9346966" y="499762"/>
                </a:lnTo>
                <a:lnTo>
                  <a:pt x="9448563" y="504828"/>
                </a:lnTo>
                <a:lnTo>
                  <a:pt x="9550161" y="508557"/>
                </a:lnTo>
                <a:lnTo>
                  <a:pt x="9651758" y="510930"/>
                </a:lnTo>
                <a:lnTo>
                  <a:pt x="9753356" y="511932"/>
                </a:lnTo>
                <a:lnTo>
                  <a:pt x="9854953" y="511560"/>
                </a:lnTo>
                <a:lnTo>
                  <a:pt x="9956551" y="509815"/>
                </a:lnTo>
                <a:lnTo>
                  <a:pt x="10058148" y="506706"/>
                </a:lnTo>
                <a:lnTo>
                  <a:pt x="10159746" y="502250"/>
                </a:lnTo>
                <a:lnTo>
                  <a:pt x="10261343" y="496472"/>
                </a:lnTo>
                <a:lnTo>
                  <a:pt x="10362940" y="489401"/>
                </a:lnTo>
                <a:lnTo>
                  <a:pt x="10464538" y="481077"/>
                </a:lnTo>
                <a:lnTo>
                  <a:pt x="10566135" y="471543"/>
                </a:lnTo>
                <a:lnTo>
                  <a:pt x="10667733" y="460851"/>
                </a:lnTo>
                <a:lnTo>
                  <a:pt x="10769330" y="449059"/>
                </a:lnTo>
                <a:lnTo>
                  <a:pt x="10870928" y="436229"/>
                </a:lnTo>
                <a:lnTo>
                  <a:pt x="10972525" y="422431"/>
                </a:lnTo>
                <a:lnTo>
                  <a:pt x="11074123" y="407739"/>
                </a:lnTo>
                <a:lnTo>
                  <a:pt x="11175720" y="392231"/>
                </a:lnTo>
                <a:lnTo>
                  <a:pt x="11277318" y="375992"/>
                </a:lnTo>
                <a:lnTo>
                  <a:pt x="11378915" y="359107"/>
                </a:lnTo>
                <a:lnTo>
                  <a:pt x="11480512" y="341669"/>
                </a:lnTo>
                <a:lnTo>
                  <a:pt x="11582110" y="323770"/>
                </a:lnTo>
                <a:lnTo>
                  <a:pt x="11683707" y="305506"/>
                </a:lnTo>
                <a:lnTo>
                  <a:pt x="11785305" y="286977"/>
                </a:lnTo>
                <a:lnTo>
                  <a:pt x="11886902" y="268280"/>
                </a:lnTo>
                <a:lnTo>
                  <a:pt x="11988500" y="249517"/>
                </a:lnTo>
                <a:lnTo>
                  <a:pt x="12090097" y="230789"/>
                </a:lnTo>
                <a:lnTo>
                  <a:pt x="12191695" y="212196"/>
                </a:lnTo>
              </a:path>
            </a:pathLst>
          </a:custGeom>
          <a:noFill/>
          <a:ln w="63500" cap="rnd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nda2"/>
          <p:cNvSpPr/>
          <p:nvPr/>
        </p:nvSpPr>
        <p:spPr>
          <a:xfrm>
            <a:off x="0" y="5806584"/>
            <a:ext cx="12191695" cy="511851"/>
          </a:xfrm>
          <a:custGeom>
            <a:avLst/>
            <a:gdLst/>
            <a:ahLst/>
            <a:cxnLst/>
            <a:rect l="l" t="t" r="r" b="b"/>
            <a:pathLst>
              <a:path w="12191695" h="511851">
                <a:moveTo>
                  <a:pt x="0" y="511810"/>
                </a:moveTo>
                <a:lnTo>
                  <a:pt x="101597" y="510576"/>
                </a:lnTo>
                <a:lnTo>
                  <a:pt x="203194" y="507973"/>
                </a:lnTo>
                <a:lnTo>
                  <a:pt x="304792" y="504016"/>
                </a:lnTo>
                <a:lnTo>
                  <a:pt x="406389" y="498727"/>
                </a:lnTo>
                <a:lnTo>
                  <a:pt x="507987" y="492133"/>
                </a:lnTo>
                <a:lnTo>
                  <a:pt x="609584" y="484270"/>
                </a:lnTo>
                <a:lnTo>
                  <a:pt x="711182" y="475181"/>
                </a:lnTo>
                <a:lnTo>
                  <a:pt x="812779" y="464914"/>
                </a:lnTo>
                <a:lnTo>
                  <a:pt x="914377" y="453524"/>
                </a:lnTo>
                <a:lnTo>
                  <a:pt x="1015974" y="441073"/>
                </a:lnTo>
                <a:lnTo>
                  <a:pt x="1117572" y="427627"/>
                </a:lnTo>
                <a:lnTo>
                  <a:pt x="1219169" y="413258"/>
                </a:lnTo>
                <a:lnTo>
                  <a:pt x="1320766" y="398045"/>
                </a:lnTo>
                <a:lnTo>
                  <a:pt x="1422364" y="382068"/>
                </a:lnTo>
                <a:lnTo>
                  <a:pt x="1523961" y="365413"/>
                </a:lnTo>
                <a:lnTo>
                  <a:pt x="1625559" y="348170"/>
                </a:lnTo>
                <a:lnTo>
                  <a:pt x="1727156" y="330431"/>
                </a:lnTo>
                <a:lnTo>
                  <a:pt x="1828754" y="312292"/>
                </a:lnTo>
                <a:lnTo>
                  <a:pt x="1930351" y="293850"/>
                </a:lnTo>
                <a:lnTo>
                  <a:pt x="2031949" y="275204"/>
                </a:lnTo>
                <a:lnTo>
                  <a:pt x="2133546" y="256454"/>
                </a:lnTo>
                <a:lnTo>
                  <a:pt x="2235144" y="237701"/>
                </a:lnTo>
                <a:lnTo>
                  <a:pt x="2336741" y="219046"/>
                </a:lnTo>
                <a:lnTo>
                  <a:pt x="2438339" y="200589"/>
                </a:lnTo>
                <a:lnTo>
                  <a:pt x="2539936" y="182429"/>
                </a:lnTo>
                <a:lnTo>
                  <a:pt x="2641533" y="164663"/>
                </a:lnTo>
                <a:lnTo>
                  <a:pt x="2743131" y="147387"/>
                </a:lnTo>
                <a:lnTo>
                  <a:pt x="2844728" y="130694"/>
                </a:lnTo>
                <a:lnTo>
                  <a:pt x="2946326" y="114674"/>
                </a:lnTo>
                <a:lnTo>
                  <a:pt x="3047923" y="99412"/>
                </a:lnTo>
                <a:lnTo>
                  <a:pt x="3149521" y="84990"/>
                </a:lnTo>
                <a:lnTo>
                  <a:pt x="3251118" y="71486"/>
                </a:lnTo>
                <a:lnTo>
                  <a:pt x="3352716" y="58973"/>
                </a:lnTo>
                <a:lnTo>
                  <a:pt x="3454313" y="47517"/>
                </a:lnTo>
                <a:lnTo>
                  <a:pt x="3555911" y="37181"/>
                </a:lnTo>
                <a:lnTo>
                  <a:pt x="3657508" y="28019"/>
                </a:lnTo>
                <a:lnTo>
                  <a:pt x="3759106" y="20081"/>
                </a:lnTo>
                <a:lnTo>
                  <a:pt x="3860703" y="13410"/>
                </a:lnTo>
                <a:lnTo>
                  <a:pt x="3962300" y="8041"/>
                </a:lnTo>
                <a:lnTo>
                  <a:pt x="4063898" y="4003"/>
                </a:lnTo>
                <a:lnTo>
                  <a:pt x="4165495" y="1318"/>
                </a:lnTo>
                <a:lnTo>
                  <a:pt x="4267093" y="0"/>
                </a:lnTo>
                <a:lnTo>
                  <a:pt x="4368690" y="57"/>
                </a:lnTo>
                <a:lnTo>
                  <a:pt x="4470288" y="1488"/>
                </a:lnTo>
                <a:lnTo>
                  <a:pt x="4571885" y="4285"/>
                </a:lnTo>
                <a:lnTo>
                  <a:pt x="4673483" y="8434"/>
                </a:lnTo>
                <a:lnTo>
                  <a:pt x="4775080" y="13911"/>
                </a:lnTo>
                <a:lnTo>
                  <a:pt x="4876678" y="20689"/>
                </a:lnTo>
                <a:lnTo>
                  <a:pt x="4978275" y="28729"/>
                </a:lnTo>
                <a:lnTo>
                  <a:pt x="5079873" y="37990"/>
                </a:lnTo>
                <a:lnTo>
                  <a:pt x="5181470" y="48421"/>
                </a:lnTo>
                <a:lnTo>
                  <a:pt x="5283067" y="59966"/>
                </a:lnTo>
                <a:lnTo>
                  <a:pt x="5384665" y="72564"/>
                </a:lnTo>
                <a:lnTo>
                  <a:pt x="5486262" y="86146"/>
                </a:lnTo>
                <a:lnTo>
                  <a:pt x="5587860" y="100640"/>
                </a:lnTo>
                <a:lnTo>
                  <a:pt x="5689457" y="115968"/>
                </a:lnTo>
                <a:lnTo>
                  <a:pt x="5791055" y="132047"/>
                </a:lnTo>
                <a:lnTo>
                  <a:pt x="5892652" y="148792"/>
                </a:lnTo>
                <a:lnTo>
                  <a:pt x="5994250" y="166111"/>
                </a:lnTo>
                <a:lnTo>
                  <a:pt x="6095847" y="183913"/>
                </a:lnTo>
                <a:lnTo>
                  <a:pt x="6197445" y="202102"/>
                </a:lnTo>
                <a:lnTo>
                  <a:pt x="6299042" y="220579"/>
                </a:lnTo>
                <a:lnTo>
                  <a:pt x="6400639" y="239246"/>
                </a:lnTo>
                <a:lnTo>
                  <a:pt x="6502237" y="258002"/>
                </a:lnTo>
                <a:lnTo>
                  <a:pt x="6603834" y="276747"/>
                </a:lnTo>
                <a:lnTo>
                  <a:pt x="6705432" y="295380"/>
                </a:lnTo>
                <a:lnTo>
                  <a:pt x="6807029" y="313801"/>
                </a:lnTo>
                <a:lnTo>
                  <a:pt x="6908627" y="331911"/>
                </a:lnTo>
                <a:lnTo>
                  <a:pt x="7010224" y="349612"/>
                </a:lnTo>
                <a:lnTo>
                  <a:pt x="7111822" y="366810"/>
                </a:lnTo>
                <a:lnTo>
                  <a:pt x="7213419" y="383413"/>
                </a:lnTo>
                <a:lnTo>
                  <a:pt x="7315017" y="399330"/>
                </a:lnTo>
                <a:lnTo>
                  <a:pt x="7416614" y="414477"/>
                </a:lnTo>
                <a:lnTo>
                  <a:pt x="7518212" y="428772"/>
                </a:lnTo>
                <a:lnTo>
                  <a:pt x="7619809" y="442139"/>
                </a:lnTo>
                <a:lnTo>
                  <a:pt x="7721406" y="454505"/>
                </a:lnTo>
                <a:lnTo>
                  <a:pt x="7823004" y="465804"/>
                </a:lnTo>
                <a:lnTo>
                  <a:pt x="7924601" y="475976"/>
                </a:lnTo>
                <a:lnTo>
                  <a:pt x="8026199" y="484966"/>
                </a:lnTo>
                <a:lnTo>
                  <a:pt x="8127796" y="492725"/>
                </a:lnTo>
                <a:lnTo>
                  <a:pt x="8229394" y="499213"/>
                </a:lnTo>
                <a:lnTo>
                  <a:pt x="8330991" y="504393"/>
                </a:lnTo>
                <a:lnTo>
                  <a:pt x="8432589" y="508239"/>
                </a:lnTo>
                <a:lnTo>
                  <a:pt x="8534186" y="510729"/>
                </a:lnTo>
                <a:lnTo>
                  <a:pt x="8635784" y="511851"/>
                </a:lnTo>
                <a:lnTo>
                  <a:pt x="8737381" y="511598"/>
                </a:lnTo>
                <a:lnTo>
                  <a:pt x="8838979" y="509971"/>
                </a:lnTo>
                <a:lnTo>
                  <a:pt x="8940576" y="506980"/>
                </a:lnTo>
                <a:lnTo>
                  <a:pt x="9042173" y="502640"/>
                </a:lnTo>
                <a:lnTo>
                  <a:pt x="9143771" y="496974"/>
                </a:lnTo>
                <a:lnTo>
                  <a:pt x="9245368" y="490014"/>
                </a:lnTo>
                <a:lnTo>
                  <a:pt x="9346966" y="481796"/>
                </a:lnTo>
                <a:lnTo>
                  <a:pt x="9448563" y="472365"/>
                </a:lnTo>
                <a:lnTo>
                  <a:pt x="9550161" y="461772"/>
                </a:lnTo>
                <a:lnTo>
                  <a:pt x="9651758" y="450072"/>
                </a:lnTo>
                <a:lnTo>
                  <a:pt x="9753356" y="437330"/>
                </a:lnTo>
                <a:lnTo>
                  <a:pt x="9854953" y="423612"/>
                </a:lnTo>
                <a:lnTo>
                  <a:pt x="9956551" y="408994"/>
                </a:lnTo>
                <a:lnTo>
                  <a:pt x="10058148" y="393554"/>
                </a:lnTo>
                <a:lnTo>
                  <a:pt x="10159746" y="377374"/>
                </a:lnTo>
                <a:lnTo>
                  <a:pt x="10261343" y="360542"/>
                </a:lnTo>
                <a:lnTo>
                  <a:pt x="10362940" y="343148"/>
                </a:lnTo>
                <a:lnTo>
                  <a:pt x="10464538" y="325285"/>
                </a:lnTo>
                <a:lnTo>
                  <a:pt x="10566135" y="307049"/>
                </a:lnTo>
                <a:lnTo>
                  <a:pt x="10667733" y="288539"/>
                </a:lnTo>
                <a:lnTo>
                  <a:pt x="10769330" y="269853"/>
                </a:lnTo>
                <a:lnTo>
                  <a:pt x="10870928" y="251092"/>
                </a:lnTo>
                <a:lnTo>
                  <a:pt x="10972525" y="232357"/>
                </a:lnTo>
                <a:lnTo>
                  <a:pt x="11074123" y="213748"/>
                </a:lnTo>
                <a:lnTo>
                  <a:pt x="11175720" y="195366"/>
                </a:lnTo>
                <a:lnTo>
                  <a:pt x="11277318" y="177308"/>
                </a:lnTo>
                <a:lnTo>
                  <a:pt x="11378915" y="159673"/>
                </a:lnTo>
                <a:lnTo>
                  <a:pt x="11480512" y="142554"/>
                </a:lnTo>
                <a:lnTo>
                  <a:pt x="11582110" y="126044"/>
                </a:lnTo>
                <a:lnTo>
                  <a:pt x="11683707" y="110232"/>
                </a:lnTo>
                <a:lnTo>
                  <a:pt x="11785305" y="95202"/>
                </a:lnTo>
                <a:lnTo>
                  <a:pt x="11886902" y="81035"/>
                </a:lnTo>
                <a:lnTo>
                  <a:pt x="11988500" y="67807"/>
                </a:lnTo>
                <a:lnTo>
                  <a:pt x="12090097" y="55589"/>
                </a:lnTo>
                <a:lnTo>
                  <a:pt x="12191695" y="44447"/>
                </a:lnTo>
              </a:path>
            </a:pathLst>
          </a:custGeom>
          <a:noFill/>
          <a:ln w="31750" cap="rnd">
            <a:solidFill>
              <a:srgbClr val="F7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2</a:t>
            </a:r>
          </a:p>
        </p:txBody>
      </p:sp>
      <p:sp>
        <p:nvSpPr>
          <p:cNvPr id="5" name="!!kick_en"/>
          <p:cNvSpPr txBox="1"/>
          <p:nvPr/>
        </p:nvSpPr>
        <p:spPr>
          <a:xfrm>
            <a:off x="3355848" y="1280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630"/>
              </a:spcAft>
            </a:pPr>
            <a:r>
              <a:rPr sz="1800" b="0" i="0">
                <a:solidFill>
                  <a:srgbClr val="5B7C99"/>
                </a:solidFill>
                <a:latin typeface="+mn-lt"/>
              </a:rPr>
              <a:t>In English, one verb:</a:t>
            </a:r>
          </a:p>
        </p:txBody>
      </p:sp>
      <p:sp>
        <p:nvSpPr>
          <p:cNvPr id="6" name="!!tobe"/>
          <p:cNvSpPr txBox="1"/>
          <p:nvPr/>
        </p:nvSpPr>
        <p:spPr>
          <a:xfrm>
            <a:off x="3355848" y="173736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2240"/>
              </a:spcAft>
            </a:pPr>
            <a:r>
              <a:rPr sz="6400" b="0" i="1">
                <a:solidFill>
                  <a:srgbClr val="5B7C99"/>
                </a:solidFill>
                <a:latin typeface="+mj-lt"/>
              </a:rPr>
              <a:t>to be</a:t>
            </a:r>
          </a:p>
        </p:txBody>
      </p:sp>
      <p:sp>
        <p:nvSpPr>
          <p:cNvPr id="7" name="!!kick_es"/>
          <p:cNvSpPr txBox="1"/>
          <p:nvPr/>
        </p:nvSpPr>
        <p:spPr>
          <a:xfrm>
            <a:off x="12801600" y="1280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800" b="0" i="0">
                <a:solidFill>
                  <a:srgbClr val="C8553D"/>
                </a:solidFill>
                <a:latin typeface="+mn-lt"/>
              </a:rPr>
              <a:t>En español, dos verbos:</a:t>
            </a:r>
          </a:p>
        </p:txBody>
      </p:sp>
      <p:sp>
        <p:nvSpPr>
          <p:cNvPr id="8" name="!!serestar"/>
          <p:cNvSpPr txBox="1"/>
          <p:nvPr/>
        </p:nvSpPr>
        <p:spPr>
          <a:xfrm>
            <a:off x="12801600" y="173736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100"/>
              </a:spcAft>
            </a:pPr>
            <a:r>
              <a:rPr sz="6000" b="1" i="0">
                <a:solidFill>
                  <a:srgbClr val="C8553D"/>
                </a:solidFill>
                <a:latin typeface="+mj-lt"/>
              </a:rPr>
              <a:t>ser · estar</a:t>
            </a:r>
          </a:p>
        </p:txBody>
      </p:sp>
      <p:sp>
        <p:nvSpPr>
          <p:cNvPr id="9" name="!!pregunta"/>
          <p:cNvSpPr txBox="1"/>
          <p:nvPr/>
        </p:nvSpPr>
        <p:spPr>
          <a:xfrm>
            <a:off x="731520" y="73152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1050"/>
              </a:spcAft>
            </a:pPr>
            <a:r>
              <a:rPr sz="3000" b="0" i="1">
                <a:solidFill>
                  <a:srgbClr val="1F2A44"/>
                </a:solidFill>
                <a:latin typeface="+mj-lt"/>
              </a:rPr>
              <a:t>¿Por qué decimos «</a:t>
            </a:r>
            <a:r>
              <a:rPr sz="3000" b="1" i="1">
                <a:solidFill>
                  <a:srgbClr val="C8553D"/>
                </a:solidFill>
                <a:latin typeface="+mj-lt"/>
              </a:rPr>
              <a:t>soy</a:t>
            </a:r>
            <a:r>
              <a:rPr sz="3000" b="0" i="1">
                <a:solidFill>
                  <a:srgbClr val="1F2A44"/>
                </a:solidFill>
                <a:latin typeface="+mj-lt"/>
              </a:rPr>
              <a:t> profesora» pero «</a:t>
            </a:r>
            <a:r>
              <a:rPr sz="3000" b="1" i="1">
                <a:solidFill>
                  <a:srgbClr val="C8553D"/>
                </a:solidFill>
                <a:latin typeface="+mj-lt"/>
              </a:rPr>
              <a:t>estoy</a:t>
            </a:r>
            <a:r>
              <a:rPr sz="3000" b="0" i="1">
                <a:solidFill>
                  <a:srgbClr val="1F2A44"/>
                </a:solidFill>
                <a:latin typeface="+mj-lt"/>
              </a:rPr>
              <a:t> cansada»?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3</a:t>
            </a:r>
          </a:p>
        </p:txBody>
      </p:sp>
      <p:sp>
        <p:nvSpPr>
          <p:cNvPr id="5" name="!!kick_en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800" b="0" i="0">
                <a:solidFill>
                  <a:srgbClr val="5B7C99"/>
                </a:solidFill>
                <a:latin typeface="+mn-lt"/>
              </a:rPr>
              <a:t>In English, one verb:</a:t>
            </a:r>
          </a:p>
        </p:txBody>
      </p:sp>
      <p:sp>
        <p:nvSpPr>
          <p:cNvPr id="6" name="!!tobe"/>
          <p:cNvSpPr txBox="1"/>
          <p:nvPr/>
        </p:nvSpPr>
        <p:spPr>
          <a:xfrm>
            <a:off x="731520" y="173736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40"/>
              </a:spcAft>
            </a:pPr>
            <a:r>
              <a:rPr sz="6400" b="0" i="1">
                <a:solidFill>
                  <a:srgbClr val="5B7C99"/>
                </a:solidFill>
                <a:latin typeface="+mj-lt"/>
              </a:rPr>
              <a:t>to be</a:t>
            </a:r>
          </a:p>
        </p:txBody>
      </p:sp>
      <p:sp>
        <p:nvSpPr>
          <p:cNvPr id="7" name="!!kick_es"/>
          <p:cNvSpPr txBox="1"/>
          <p:nvPr/>
        </p:nvSpPr>
        <p:spPr>
          <a:xfrm>
            <a:off x="6035040" y="1280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800" b="0" i="0">
                <a:solidFill>
                  <a:srgbClr val="C8553D"/>
                </a:solidFill>
                <a:latin typeface="+mn-lt"/>
              </a:rPr>
              <a:t>En español, dos verbos:</a:t>
            </a:r>
          </a:p>
        </p:txBody>
      </p:sp>
      <p:sp>
        <p:nvSpPr>
          <p:cNvPr id="8" name="!!serestar"/>
          <p:cNvSpPr txBox="1"/>
          <p:nvPr/>
        </p:nvSpPr>
        <p:spPr>
          <a:xfrm>
            <a:off x="6035040" y="173736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100"/>
              </a:spcAft>
            </a:pPr>
            <a:r>
              <a:rPr sz="6000" b="1" i="0">
                <a:solidFill>
                  <a:srgbClr val="C8553D"/>
                </a:solidFill>
                <a:latin typeface="+mj-lt"/>
              </a:rPr>
              <a:t>ser · estar</a:t>
            </a:r>
          </a:p>
        </p:txBody>
      </p:sp>
      <p:sp>
        <p:nvSpPr>
          <p:cNvPr id="9" name="!!pregunta"/>
          <p:cNvSpPr txBox="1"/>
          <p:nvPr/>
        </p:nvSpPr>
        <p:spPr>
          <a:xfrm>
            <a:off x="731520" y="40233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1050"/>
              </a:spcAft>
            </a:pPr>
            <a:r>
              <a:rPr sz="3000" b="0" i="1">
                <a:solidFill>
                  <a:srgbClr val="1F2A44"/>
                </a:solidFill>
                <a:latin typeface="+mj-lt"/>
              </a:rPr>
              <a:t>¿Por qué decimos «</a:t>
            </a:r>
            <a:r>
              <a:rPr sz="3000" b="1" i="1">
                <a:solidFill>
                  <a:srgbClr val="C8553D"/>
                </a:solidFill>
                <a:latin typeface="+mj-lt"/>
              </a:rPr>
              <a:t>soy</a:t>
            </a:r>
            <a:r>
              <a:rPr sz="3000" b="0" i="1">
                <a:solidFill>
                  <a:srgbClr val="1F2A44"/>
                </a:solidFill>
                <a:latin typeface="+mj-lt"/>
              </a:rPr>
              <a:t> profesora» pero «</a:t>
            </a:r>
            <a:r>
              <a:rPr sz="3000" b="1" i="1">
                <a:solidFill>
                  <a:srgbClr val="C8553D"/>
                </a:solidFill>
                <a:latin typeface="+mj-lt"/>
              </a:rPr>
              <a:t>estoy</a:t>
            </a:r>
            <a:r>
              <a:rPr sz="3000" b="0" i="1">
                <a:solidFill>
                  <a:srgbClr val="1F2A44"/>
                </a:solidFill>
                <a:latin typeface="+mj-lt"/>
              </a:rPr>
              <a:t> cansada»?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4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▶ REPASA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Presente de ser y estar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69848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2377440"/>
                <a:gridCol w="2377440"/>
                <a:gridCol w="2834640"/>
              </a:tblGrid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</a:rPr>
                        <a:t/>
                      </a:r>
                    </a:p>
                  </a:txBody>
                  <a:tcPr marL="137160" marR="137160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</a:rPr>
                        <a:t>SER</a:t>
                      </a:r>
                    </a:p>
                  </a:txBody>
                  <a:tcPr marL="137160" marR="137160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</a:rPr>
                        <a:t>ESTAR</a:t>
                      </a:r>
                    </a:p>
                  </a:txBody>
                  <a:tcPr marL="137160" marR="137160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+mn-lt"/>
                        </a:rPr>
                        <a:t>English</a:t>
                      </a:r>
                    </a:p>
                  </a:txBody>
                  <a:tcPr marL="137160" marR="137160" marT="36576" marB="36576">
                    <a:solidFill>
                      <a:srgbClr val="1F2A44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F2A44"/>
                          </a:solidFill>
                          <a:latin typeface="+mn-lt"/>
                        </a:rPr>
                        <a:t>yo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soy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estoy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 i="1">
                          <a:solidFill>
                            <a:srgbClr val="5B7C99"/>
                          </a:solidFill>
                          <a:latin typeface="+mn-lt"/>
                        </a:rPr>
                        <a:t>I am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F2A44"/>
                          </a:solidFill>
                          <a:latin typeface="+mn-lt"/>
                        </a:rPr>
                        <a:t>tú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eres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estás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 i="1">
                          <a:solidFill>
                            <a:srgbClr val="5B7C99"/>
                          </a:solidFill>
                          <a:latin typeface="+mn-lt"/>
                        </a:rPr>
                        <a:t>you are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F2A44"/>
                          </a:solidFill>
                          <a:latin typeface="+mn-lt"/>
                        </a:rPr>
                        <a:t>él, ella, usted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es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está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 i="1">
                          <a:solidFill>
                            <a:srgbClr val="5B7C99"/>
                          </a:solidFill>
                          <a:latin typeface="+mn-lt"/>
                        </a:rPr>
                        <a:t>he / she is, you are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F2A44"/>
                          </a:solidFill>
                          <a:latin typeface="+mn-lt"/>
                        </a:rPr>
                        <a:t>nosotros, nosotras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somos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estamos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 i="1">
                          <a:solidFill>
                            <a:srgbClr val="5B7C99"/>
                          </a:solidFill>
                          <a:latin typeface="+mn-lt"/>
                        </a:rPr>
                        <a:t>we are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F2A44"/>
                          </a:solidFill>
                          <a:latin typeface="+mn-lt"/>
                        </a:rPr>
                        <a:t>vosotros, vosotras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sois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estáis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 i="1">
                          <a:solidFill>
                            <a:srgbClr val="5B7C99"/>
                          </a:solidFill>
                          <a:latin typeface="+mn-lt"/>
                        </a:rPr>
                        <a:t>you are (Spain)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1F2A44"/>
                          </a:solidFill>
                          <a:latin typeface="+mn-lt"/>
                        </a:rPr>
                        <a:t>ellos, ellas, ustedes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son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C8553D"/>
                          </a:solidFill>
                          <a:latin typeface="+mn-lt"/>
                        </a:rPr>
                        <a:t>están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 i="1">
                          <a:solidFill>
                            <a:srgbClr val="5B7C99"/>
                          </a:solidFill>
                          <a:latin typeface="+mn-lt"/>
                        </a:rPr>
                        <a:t>they are, you are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5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SER · 1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Ser: cómo es alguien o algo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gla"/>
          <p:cNvSpPr/>
          <p:nvPr/>
        </p:nvSpPr>
        <p:spPr>
          <a:xfrm>
            <a:off x="731520" y="1783080"/>
            <a:ext cx="4754880" cy="393192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l">
              <a:lnSpc>
                <a:spcPct val="115000"/>
              </a:lnSpc>
              <a:spcAft>
                <a:spcPts val="769"/>
              </a:spcAft>
            </a:pPr>
            <a:r>
              <a:rPr sz="2200" b="0" i="0">
                <a:solidFill>
                  <a:srgbClr val="1F2A44"/>
                </a:solidFill>
                <a:latin typeface="+mn-lt"/>
              </a:rPr>
              <a:t>Usamos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ser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para las características </a:t>
            </a:r>
            <a:r>
              <a:rPr sz="2200" b="1" i="0">
                <a:solidFill>
                  <a:srgbClr val="1F2A44"/>
                </a:solidFill>
                <a:latin typeface="+mn-lt"/>
              </a:rPr>
              <a:t>normales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o </a:t>
            </a:r>
            <a:r>
              <a:rPr sz="2200" b="1" i="0">
                <a:solidFill>
                  <a:srgbClr val="1F2A44"/>
                </a:solidFill>
                <a:latin typeface="+mn-lt"/>
              </a:rPr>
              <a:t>permanentes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: personalidad, aspecto, origen, profesión, material.</a:t>
            </a:r>
          </a:p>
        </p:txBody>
      </p:sp>
      <p:sp>
        <p:nvSpPr>
          <p:cNvPr id="9" name="ej0"/>
          <p:cNvSpPr txBox="1"/>
          <p:nvPr/>
        </p:nvSpPr>
        <p:spPr>
          <a:xfrm>
            <a:off x="5943600" y="178308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María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muy activa.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(Es así normalmente.)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María is very active.</a:t>
            </a:r>
          </a:p>
        </p:txBody>
      </p:sp>
      <p:sp>
        <p:nvSpPr>
          <p:cNvPr id="10" name="ej1"/>
          <p:cNvSpPr txBox="1"/>
          <p:nvPr/>
        </p:nvSpPr>
        <p:spPr>
          <a:xfrm>
            <a:off x="5943600" y="274320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Soy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de Colombia.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(Origen.)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I'm from Colombia.</a:t>
            </a:r>
          </a:p>
        </p:txBody>
      </p:sp>
      <p:sp>
        <p:nvSpPr>
          <p:cNvPr id="11" name="ej2"/>
          <p:cNvSpPr txBox="1"/>
          <p:nvPr/>
        </p:nvSpPr>
        <p:spPr>
          <a:xfrm>
            <a:off x="5943600" y="370332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Mi hermano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médico.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(Profesión.)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My brother is a doctor.</a:t>
            </a:r>
          </a:p>
        </p:txBody>
      </p:sp>
      <p:sp>
        <p:nvSpPr>
          <p:cNvPr id="12" name="ej3"/>
          <p:cNvSpPr txBox="1"/>
          <p:nvPr/>
        </p:nvSpPr>
        <p:spPr>
          <a:xfrm>
            <a:off x="5943600" y="466344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mesa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de madera.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(Material.)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The table is made of wood.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6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SER · 2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Ser: dónde y cuándo es un evento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gla"/>
          <p:cNvSpPr/>
          <p:nvPr/>
        </p:nvSpPr>
        <p:spPr>
          <a:xfrm>
            <a:off x="731520" y="1783080"/>
            <a:ext cx="4754880" cy="393192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l">
              <a:lnSpc>
                <a:spcPct val="115000"/>
              </a:lnSpc>
              <a:spcAft>
                <a:spcPts val="769"/>
              </a:spcAft>
            </a:pPr>
            <a:r>
              <a:rPr sz="2200" b="0" i="0">
                <a:solidFill>
                  <a:srgbClr val="1F2A44"/>
                </a:solidFill>
                <a:latin typeface="+mn-lt"/>
              </a:rPr>
              <a:t>Con </a:t>
            </a:r>
            <a:r>
              <a:rPr sz="2200" b="1" i="0">
                <a:solidFill>
                  <a:srgbClr val="1F2A44"/>
                </a:solidFill>
                <a:latin typeface="+mn-lt"/>
              </a:rPr>
              <a:t>eventos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(fiesta, clase, concierto, boda) usamos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ser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para decir </a:t>
            </a:r>
            <a:r>
              <a:rPr sz="2200" b="1" i="0">
                <a:solidFill>
                  <a:srgbClr val="1F2A44"/>
                </a:solidFill>
                <a:latin typeface="+mn-lt"/>
              </a:rPr>
              <a:t>dónde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y </a:t>
            </a:r>
            <a:r>
              <a:rPr sz="2200" b="1" i="0">
                <a:solidFill>
                  <a:srgbClr val="1F2A44"/>
                </a:solidFill>
                <a:latin typeface="+mn-lt"/>
              </a:rPr>
              <a:t>cuándo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ocurren.</a:t>
            </a:r>
          </a:p>
        </p:txBody>
      </p:sp>
      <p:sp>
        <p:nvSpPr>
          <p:cNvPr id="9" name="ej0"/>
          <p:cNvSpPr txBox="1"/>
          <p:nvPr/>
        </p:nvSpPr>
        <p:spPr>
          <a:xfrm>
            <a:off x="5943600" y="178308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fiesta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mi casa.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(Evento → lugar.)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The party is at my house.</a:t>
            </a:r>
          </a:p>
        </p:txBody>
      </p:sp>
      <p:sp>
        <p:nvSpPr>
          <p:cNvPr id="10" name="ej1"/>
          <p:cNvSpPr txBox="1"/>
          <p:nvPr/>
        </p:nvSpPr>
        <p:spPr>
          <a:xfrm>
            <a:off x="5943600" y="274320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clase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a las diez.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(Hora.)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The class is at ten.</a:t>
            </a:r>
          </a:p>
        </p:txBody>
      </p:sp>
      <p:sp>
        <p:nvSpPr>
          <p:cNvPr id="11" name="ej2"/>
          <p:cNvSpPr txBox="1"/>
          <p:nvPr/>
        </p:nvSpPr>
        <p:spPr>
          <a:xfrm>
            <a:off x="5943600" y="370332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El concierto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el sábado.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(Día.)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The concert is on Saturday.</a:t>
            </a:r>
          </a:p>
        </p:txBody>
      </p:sp>
      <p:sp>
        <p:nvSpPr>
          <p:cNvPr id="12" name="ej3"/>
          <p:cNvSpPr txBox="1"/>
          <p:nvPr/>
        </p:nvSpPr>
        <p:spPr>
          <a:xfrm>
            <a:off x="5943600" y="466344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Hoy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lunes.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(Fecha.)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Today is Monday.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7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ESTAR · 1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Estar: cómo está alguien o algo ahora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gla"/>
          <p:cNvSpPr/>
          <p:nvPr/>
        </p:nvSpPr>
        <p:spPr>
          <a:xfrm>
            <a:off x="731520" y="1783080"/>
            <a:ext cx="4754880" cy="393192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l">
              <a:lnSpc>
                <a:spcPct val="115000"/>
              </a:lnSpc>
              <a:spcAft>
                <a:spcPts val="769"/>
              </a:spcAft>
            </a:pPr>
            <a:r>
              <a:rPr sz="2200" b="0" i="0">
                <a:solidFill>
                  <a:srgbClr val="1F2A44"/>
                </a:solidFill>
                <a:latin typeface="+mn-lt"/>
              </a:rPr>
              <a:t>Usamos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estar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para </a:t>
            </a:r>
            <a:r>
              <a:rPr sz="2200" b="1" i="0">
                <a:solidFill>
                  <a:srgbClr val="1F2A44"/>
                </a:solidFill>
                <a:latin typeface="+mn-lt"/>
              </a:rPr>
              <a:t>estados temporales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, emociones y cambios: cómo estás hoy, no cómo eres.</a:t>
            </a:r>
          </a:p>
        </p:txBody>
      </p:sp>
      <p:sp>
        <p:nvSpPr>
          <p:cNvPr id="9" name="ej0"/>
          <p:cNvSpPr txBox="1"/>
          <p:nvPr/>
        </p:nvSpPr>
        <p:spPr>
          <a:xfrm>
            <a:off x="5943600" y="178308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Hoy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estoy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cansada.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(Solo hoy.)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I'm tired today.</a:t>
            </a:r>
          </a:p>
        </p:txBody>
      </p:sp>
      <p:sp>
        <p:nvSpPr>
          <p:cNvPr id="10" name="ej1"/>
          <p:cNvSpPr txBox="1"/>
          <p:nvPr/>
        </p:nvSpPr>
        <p:spPr>
          <a:xfrm>
            <a:off x="5943600" y="274320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Este café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frío.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(Ahora, no siempre.)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This coffee is cold.</a:t>
            </a:r>
          </a:p>
        </p:txBody>
      </p:sp>
      <p:sp>
        <p:nvSpPr>
          <p:cNvPr id="11" name="ej2"/>
          <p:cNvSpPr txBox="1"/>
          <p:nvPr/>
        </p:nvSpPr>
        <p:spPr>
          <a:xfrm>
            <a:off x="5943600" y="370332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¡Qué guapo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con esa camisa!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(Hoy, con esa ropa.)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You look great in that shirt!</a:t>
            </a:r>
          </a:p>
        </p:txBody>
      </p:sp>
      <p:sp>
        <p:nvSpPr>
          <p:cNvPr id="12" name="ej3"/>
          <p:cNvSpPr txBox="1"/>
          <p:nvPr/>
        </p:nvSpPr>
        <p:spPr>
          <a:xfrm>
            <a:off x="5943600" y="466344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Estamos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muy contentos.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6B6560"/>
                </a:solidFill>
                <a:latin typeface="+mn-lt"/>
              </a:rPr>
              <a:t>(Emoción.)</a:t>
            </a:r>
            <a:r>
              <a:rPr sz="1584" b="0" i="0">
                <a:solidFill>
                  <a:srgbClr val="C8553D"/>
                </a:solidFill>
                <a:latin typeface="+mn-lt"/>
              </a:rPr>
              <a:t> </a:t>
            </a:r>
            <a:r>
              <a:rPr sz="1584" b="0" i="1">
                <a:solidFill>
                  <a:srgbClr val="5B7C99"/>
                </a:solidFill>
                <a:latin typeface="+mn-lt"/>
              </a:rPr>
              <a:t>We're very happy.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8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ESTAR · 2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Estar: dónde está alguien o algo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gla"/>
          <p:cNvSpPr/>
          <p:nvPr/>
        </p:nvSpPr>
        <p:spPr>
          <a:xfrm>
            <a:off x="731520" y="1783080"/>
            <a:ext cx="4754880" cy="393192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l">
              <a:lnSpc>
                <a:spcPct val="115000"/>
              </a:lnSpc>
              <a:spcAft>
                <a:spcPts val="769"/>
              </a:spcAft>
            </a:pPr>
            <a:r>
              <a:rPr sz="2200" b="0" i="0">
                <a:solidFill>
                  <a:srgbClr val="1F2A44"/>
                </a:solidFill>
                <a:latin typeface="+mn-lt"/>
              </a:rPr>
              <a:t>Para la </a:t>
            </a:r>
            <a:r>
              <a:rPr sz="2200" b="1" i="0">
                <a:solidFill>
                  <a:srgbClr val="1F2A44"/>
                </a:solidFill>
                <a:latin typeface="+mn-lt"/>
              </a:rPr>
              <a:t>ubicación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de personas, cosas y lugares usamos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estar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.</a:t>
            </a:r>
          </a:p>
        </p:txBody>
      </p:sp>
      <p:sp>
        <p:nvSpPr>
          <p:cNvPr id="9" name="ej0"/>
          <p:cNvSpPr txBox="1"/>
          <p:nvPr/>
        </p:nvSpPr>
        <p:spPr>
          <a:xfrm>
            <a:off x="5943600" y="178308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Madrid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el centro de España.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5B7C99"/>
                </a:solidFill>
                <a:latin typeface="+mn-lt"/>
              </a:rPr>
              <a:t>Madrid is in the centre of Spain.</a:t>
            </a:r>
          </a:p>
        </p:txBody>
      </p:sp>
      <p:sp>
        <p:nvSpPr>
          <p:cNvPr id="10" name="ej1"/>
          <p:cNvSpPr txBox="1"/>
          <p:nvPr/>
        </p:nvSpPr>
        <p:spPr>
          <a:xfrm>
            <a:off x="5943600" y="274320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¿Dónde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están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mis gafas?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5B7C99"/>
                </a:solidFill>
                <a:latin typeface="+mn-lt"/>
              </a:rPr>
              <a:t>Where are my glasses?</a:t>
            </a:r>
          </a:p>
        </p:txBody>
      </p:sp>
      <p:sp>
        <p:nvSpPr>
          <p:cNvPr id="11" name="ej2"/>
          <p:cNvSpPr txBox="1"/>
          <p:nvPr/>
        </p:nvSpPr>
        <p:spPr>
          <a:xfrm>
            <a:off x="5943600" y="370332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Estoy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casa.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5B7C99"/>
                </a:solidFill>
                <a:latin typeface="+mn-lt"/>
              </a:rPr>
              <a:t>I'm at home.</a:t>
            </a:r>
          </a:p>
        </p:txBody>
      </p:sp>
      <p:sp>
        <p:nvSpPr>
          <p:cNvPr id="12" name="ej3"/>
          <p:cNvSpPr txBox="1"/>
          <p:nvPr/>
        </p:nvSpPr>
        <p:spPr>
          <a:xfrm>
            <a:off x="5943600" y="466344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El banco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al lado del parque.</a:t>
            </a:r>
          </a:p>
          <a:p>
            <a:pPr algn="l">
              <a:lnSpc>
                <a:spcPct val="110000"/>
              </a:lnSpc>
              <a:spcAft>
                <a:spcPts val="220"/>
              </a:spcAft>
            </a:pPr>
            <a:r>
              <a:rPr sz="1584" b="0" i="1">
                <a:solidFill>
                  <a:srgbClr val="5B7C99"/>
                </a:solidFill>
                <a:latin typeface="+mn-lt"/>
              </a:rPr>
              <a:t>The bank is next to the park.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9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SER Y ESTAR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Compare: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ab_ser"/>
          <p:cNvSpPr/>
          <p:nvPr/>
        </p:nvSpPr>
        <p:spPr>
          <a:xfrm>
            <a:off x="731520" y="1691640"/>
            <a:ext cx="5166360" cy="54864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+mn-lt"/>
              </a:rPr>
              <a:t>SER</a:t>
            </a:r>
          </a:p>
        </p:txBody>
      </p:sp>
      <p:sp>
        <p:nvSpPr>
          <p:cNvPr id="9" name="!!cab_est"/>
          <p:cNvSpPr/>
          <p:nvPr/>
        </p:nvSpPr>
        <p:spPr>
          <a:xfrm>
            <a:off x="6291072" y="1691640"/>
            <a:ext cx="5166360" cy="548640"/>
          </a:xfrm>
          <a:prstGeom prst="roundRect">
            <a:avLst>
              <a:gd name="adj" fmla="val 23333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+mn-lt"/>
              </a:rPr>
              <a:t>ESTAR</a:t>
            </a:r>
          </a:p>
        </p:txBody>
      </p:sp>
      <p:sp>
        <p:nvSpPr>
          <p:cNvPr id="10" name="!!c0_ser"/>
          <p:cNvSpPr/>
          <p:nvPr/>
        </p:nvSpPr>
        <p:spPr>
          <a:xfrm>
            <a:off x="-5486400" y="2423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Julián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alegre.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(Es así normalmente.)</a:t>
            </a:r>
          </a:p>
        </p:txBody>
      </p:sp>
      <p:sp>
        <p:nvSpPr>
          <p:cNvPr id="11" name="!!c0_est"/>
          <p:cNvSpPr/>
          <p:nvPr/>
        </p:nvSpPr>
        <p:spPr>
          <a:xfrm>
            <a:off x="12435840" y="2423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Julián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alegre.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(Hoy, por algo especial.)</a:t>
            </a:r>
          </a:p>
        </p:txBody>
      </p:sp>
      <p:sp>
        <p:nvSpPr>
          <p:cNvPr id="12" name="!!c1_ser"/>
          <p:cNvSpPr/>
          <p:nvPr/>
        </p:nvSpPr>
        <p:spPr>
          <a:xfrm>
            <a:off x="-5486400" y="3566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El hielo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frío.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(Siempre.)</a:t>
            </a:r>
          </a:p>
        </p:txBody>
      </p:sp>
      <p:sp>
        <p:nvSpPr>
          <p:cNvPr id="13" name="!!c1_est"/>
          <p:cNvSpPr/>
          <p:nvPr/>
        </p:nvSpPr>
        <p:spPr>
          <a:xfrm>
            <a:off x="12435840" y="3566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Este café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frío.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(Ahora.)</a:t>
            </a:r>
          </a:p>
        </p:txBody>
      </p:sp>
      <p:sp>
        <p:nvSpPr>
          <p:cNvPr id="14" name="!!c2_ser"/>
          <p:cNvSpPr/>
          <p:nvPr/>
        </p:nvSpPr>
        <p:spPr>
          <a:xfrm>
            <a:off x="-5486400" y="4709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boda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la iglesia.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(Evento.)</a:t>
            </a:r>
          </a:p>
        </p:txBody>
      </p:sp>
      <p:sp>
        <p:nvSpPr>
          <p:cNvPr id="15" name="!!c2_est"/>
          <p:cNvSpPr/>
          <p:nvPr/>
        </p:nvSpPr>
        <p:spPr>
          <a:xfrm>
            <a:off x="12435840" y="4709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iglesia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la plaza.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(Lugar físico.)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10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SER Y ESTAR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Compare: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ab_ser"/>
          <p:cNvSpPr/>
          <p:nvPr/>
        </p:nvSpPr>
        <p:spPr>
          <a:xfrm>
            <a:off x="731520" y="1691640"/>
            <a:ext cx="5166360" cy="54864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+mn-lt"/>
              </a:rPr>
              <a:t>SER</a:t>
            </a:r>
          </a:p>
        </p:txBody>
      </p:sp>
      <p:sp>
        <p:nvSpPr>
          <p:cNvPr id="9" name="!!cab_est"/>
          <p:cNvSpPr/>
          <p:nvPr/>
        </p:nvSpPr>
        <p:spPr>
          <a:xfrm>
            <a:off x="6291072" y="1691640"/>
            <a:ext cx="5166360" cy="548640"/>
          </a:xfrm>
          <a:prstGeom prst="roundRect">
            <a:avLst>
              <a:gd name="adj" fmla="val 23333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+mn-lt"/>
              </a:rPr>
              <a:t>ESTAR</a:t>
            </a:r>
          </a:p>
        </p:txBody>
      </p:sp>
      <p:sp>
        <p:nvSpPr>
          <p:cNvPr id="10" name="!!c0_ser"/>
          <p:cNvSpPr/>
          <p:nvPr/>
        </p:nvSpPr>
        <p:spPr>
          <a:xfrm>
            <a:off x="731520" y="2423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Julián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alegre.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(Es así normalmente.)</a:t>
            </a:r>
          </a:p>
        </p:txBody>
      </p:sp>
      <p:sp>
        <p:nvSpPr>
          <p:cNvPr id="11" name="!!c0_est"/>
          <p:cNvSpPr/>
          <p:nvPr/>
        </p:nvSpPr>
        <p:spPr>
          <a:xfrm>
            <a:off x="6291072" y="2423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Julián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alegre.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(Hoy, por algo especial.)</a:t>
            </a:r>
          </a:p>
        </p:txBody>
      </p:sp>
      <p:sp>
        <p:nvSpPr>
          <p:cNvPr id="12" name="!!c1_ser"/>
          <p:cNvSpPr/>
          <p:nvPr/>
        </p:nvSpPr>
        <p:spPr>
          <a:xfrm>
            <a:off x="-5486400" y="3566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El hielo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frío.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(Siempre.)</a:t>
            </a:r>
          </a:p>
        </p:txBody>
      </p:sp>
      <p:sp>
        <p:nvSpPr>
          <p:cNvPr id="13" name="!!c1_est"/>
          <p:cNvSpPr/>
          <p:nvPr/>
        </p:nvSpPr>
        <p:spPr>
          <a:xfrm>
            <a:off x="12435840" y="3566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Este café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frío.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(Ahora.)</a:t>
            </a:r>
          </a:p>
        </p:txBody>
      </p:sp>
      <p:sp>
        <p:nvSpPr>
          <p:cNvPr id="14" name="!!c2_ser"/>
          <p:cNvSpPr/>
          <p:nvPr/>
        </p:nvSpPr>
        <p:spPr>
          <a:xfrm>
            <a:off x="-5486400" y="4709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boda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la iglesia.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(Evento.)</a:t>
            </a:r>
          </a:p>
        </p:txBody>
      </p:sp>
      <p:sp>
        <p:nvSpPr>
          <p:cNvPr id="15" name="!!c2_est"/>
          <p:cNvSpPr/>
          <p:nvPr/>
        </p:nvSpPr>
        <p:spPr>
          <a:xfrm>
            <a:off x="12435840" y="4709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iglesia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la plaza.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(Lugar físico.)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11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SER Y ESTAR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Compare: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ab_ser"/>
          <p:cNvSpPr/>
          <p:nvPr/>
        </p:nvSpPr>
        <p:spPr>
          <a:xfrm>
            <a:off x="731520" y="1691640"/>
            <a:ext cx="5166360" cy="54864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+mn-lt"/>
              </a:rPr>
              <a:t>SER</a:t>
            </a:r>
          </a:p>
        </p:txBody>
      </p:sp>
      <p:sp>
        <p:nvSpPr>
          <p:cNvPr id="9" name="!!cab_est"/>
          <p:cNvSpPr/>
          <p:nvPr/>
        </p:nvSpPr>
        <p:spPr>
          <a:xfrm>
            <a:off x="6291072" y="1691640"/>
            <a:ext cx="5166360" cy="548640"/>
          </a:xfrm>
          <a:prstGeom prst="roundRect">
            <a:avLst>
              <a:gd name="adj" fmla="val 23333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+mn-lt"/>
              </a:rPr>
              <a:t>ESTAR</a:t>
            </a:r>
          </a:p>
        </p:txBody>
      </p:sp>
      <p:sp>
        <p:nvSpPr>
          <p:cNvPr id="10" name="!!c0_ser"/>
          <p:cNvSpPr/>
          <p:nvPr/>
        </p:nvSpPr>
        <p:spPr>
          <a:xfrm>
            <a:off x="731520" y="2423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Julián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alegre.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(Es así normalmente.)</a:t>
            </a:r>
          </a:p>
        </p:txBody>
      </p:sp>
      <p:sp>
        <p:nvSpPr>
          <p:cNvPr id="11" name="!!c0_est"/>
          <p:cNvSpPr/>
          <p:nvPr/>
        </p:nvSpPr>
        <p:spPr>
          <a:xfrm>
            <a:off x="6291072" y="2423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Julián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alegre.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(Hoy, por algo especial.)</a:t>
            </a:r>
          </a:p>
        </p:txBody>
      </p:sp>
      <p:sp>
        <p:nvSpPr>
          <p:cNvPr id="12" name="!!c1_ser"/>
          <p:cNvSpPr/>
          <p:nvPr/>
        </p:nvSpPr>
        <p:spPr>
          <a:xfrm>
            <a:off x="731520" y="3566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El hielo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frío.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(Siempre.)</a:t>
            </a:r>
          </a:p>
        </p:txBody>
      </p:sp>
      <p:sp>
        <p:nvSpPr>
          <p:cNvPr id="13" name="!!c1_est"/>
          <p:cNvSpPr/>
          <p:nvPr/>
        </p:nvSpPr>
        <p:spPr>
          <a:xfrm>
            <a:off x="6291072" y="3566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Este café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frío.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(Ahora.)</a:t>
            </a:r>
          </a:p>
        </p:txBody>
      </p:sp>
      <p:sp>
        <p:nvSpPr>
          <p:cNvPr id="14" name="!!c2_ser"/>
          <p:cNvSpPr/>
          <p:nvPr/>
        </p:nvSpPr>
        <p:spPr>
          <a:xfrm>
            <a:off x="-5486400" y="4709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boda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la iglesia.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(Evento.)</a:t>
            </a:r>
          </a:p>
        </p:txBody>
      </p:sp>
      <p:sp>
        <p:nvSpPr>
          <p:cNvPr id="15" name="!!c2_est"/>
          <p:cNvSpPr/>
          <p:nvPr/>
        </p:nvSpPr>
        <p:spPr>
          <a:xfrm>
            <a:off x="12435840" y="4709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iglesia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la plaza.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(Lugar físico.)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12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SER Y ESTAR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Compare: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ab_ser"/>
          <p:cNvSpPr/>
          <p:nvPr/>
        </p:nvSpPr>
        <p:spPr>
          <a:xfrm>
            <a:off x="731520" y="1691640"/>
            <a:ext cx="5166360" cy="54864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+mn-lt"/>
              </a:rPr>
              <a:t>SER</a:t>
            </a:r>
          </a:p>
        </p:txBody>
      </p:sp>
      <p:sp>
        <p:nvSpPr>
          <p:cNvPr id="9" name="!!cab_est"/>
          <p:cNvSpPr/>
          <p:nvPr/>
        </p:nvSpPr>
        <p:spPr>
          <a:xfrm>
            <a:off x="6291072" y="1691640"/>
            <a:ext cx="5166360" cy="548640"/>
          </a:xfrm>
          <a:prstGeom prst="roundRect">
            <a:avLst>
              <a:gd name="adj" fmla="val 23333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+mn-lt"/>
              </a:rPr>
              <a:t>ESTAR</a:t>
            </a:r>
          </a:p>
        </p:txBody>
      </p:sp>
      <p:sp>
        <p:nvSpPr>
          <p:cNvPr id="10" name="!!c0_ser"/>
          <p:cNvSpPr/>
          <p:nvPr/>
        </p:nvSpPr>
        <p:spPr>
          <a:xfrm>
            <a:off x="731520" y="2423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Julián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alegre.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(Es así normalmente.)</a:t>
            </a:r>
          </a:p>
        </p:txBody>
      </p:sp>
      <p:sp>
        <p:nvSpPr>
          <p:cNvPr id="11" name="!!c0_est"/>
          <p:cNvSpPr/>
          <p:nvPr/>
        </p:nvSpPr>
        <p:spPr>
          <a:xfrm>
            <a:off x="6291072" y="2423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Julián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alegre.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(Hoy, por algo especial.)</a:t>
            </a:r>
          </a:p>
        </p:txBody>
      </p:sp>
      <p:sp>
        <p:nvSpPr>
          <p:cNvPr id="12" name="!!c1_ser"/>
          <p:cNvSpPr/>
          <p:nvPr/>
        </p:nvSpPr>
        <p:spPr>
          <a:xfrm>
            <a:off x="731520" y="3566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El hielo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frío.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(Siempre.)</a:t>
            </a:r>
          </a:p>
        </p:txBody>
      </p:sp>
      <p:sp>
        <p:nvSpPr>
          <p:cNvPr id="13" name="!!c1_est"/>
          <p:cNvSpPr/>
          <p:nvPr/>
        </p:nvSpPr>
        <p:spPr>
          <a:xfrm>
            <a:off x="6291072" y="3566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Este café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frío.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(Ahora.)</a:t>
            </a:r>
          </a:p>
        </p:txBody>
      </p:sp>
      <p:sp>
        <p:nvSpPr>
          <p:cNvPr id="14" name="!!c2_ser"/>
          <p:cNvSpPr/>
          <p:nvPr/>
        </p:nvSpPr>
        <p:spPr>
          <a:xfrm>
            <a:off x="731520" y="4709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boda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la iglesia.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(Evento.)</a:t>
            </a:r>
          </a:p>
        </p:txBody>
      </p:sp>
      <p:sp>
        <p:nvSpPr>
          <p:cNvPr id="15" name="!!c2_est"/>
          <p:cNvSpPr/>
          <p:nvPr/>
        </p:nvSpPr>
        <p:spPr>
          <a:xfrm>
            <a:off x="6291072" y="4709160"/>
            <a:ext cx="5166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0">
                <a:solidFill>
                  <a:srgbClr val="C8553D"/>
                </a:solidFill>
                <a:latin typeface="+mn-lt"/>
              </a:rPr>
              <a:t>La iglesia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está</a:t>
            </a:r>
            <a:r>
              <a:rPr sz="2200" b="0" i="0">
                <a:solidFill>
                  <a:srgbClr val="C8553D"/>
                </a:solidFill>
                <a:latin typeface="+mn-lt"/>
              </a:rPr>
              <a:t> en la plaza.</a:t>
            </a:r>
          </a:p>
          <a:p>
            <a:pPr algn="l">
              <a:lnSpc>
                <a:spcPct val="110000"/>
              </a:lnSpc>
              <a:spcAft>
                <a:spcPts val="110"/>
              </a:spcAft>
            </a:pPr>
            <a:r>
              <a:rPr sz="2200" b="0" i="1">
                <a:solidFill>
                  <a:srgbClr val="6B6560"/>
                </a:solidFill>
                <a:latin typeface="+mn-lt"/>
              </a:rPr>
              <a:t>(Lugar físico.)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13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EL PUENTE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In English → en español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35"/>
              </a:spcAft>
            </a:pPr>
            <a:r>
              <a:rPr sz="2100" b="0" i="1">
                <a:solidFill>
                  <a:srgbClr val="5B7C99"/>
                </a:solidFill>
                <a:latin typeface="+mn-lt"/>
              </a:rPr>
              <a:t>I am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737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735"/>
              </a:spcAft>
            </a:pPr>
            <a:r>
              <a:rPr sz="2100" b="0" i="0">
                <a:solidFill>
                  <a:srgbClr val="6B6560"/>
                </a:solidFill>
                <a:latin typeface="+mn-lt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7373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35"/>
              </a:spcAft>
            </a:pPr>
            <a:r>
              <a:rPr sz="2100" b="0" i="0">
                <a:solidFill>
                  <a:srgbClr val="C8553D"/>
                </a:solidFill>
                <a:latin typeface="+mn-lt"/>
              </a:rPr>
              <a:t>Soy alto.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1810512"/>
            <a:ext cx="1143000" cy="535559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+mn-lt"/>
              </a:rPr>
              <a:t>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14015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35"/>
              </a:spcAft>
            </a:pPr>
            <a:r>
              <a:rPr sz="2100" b="0" i="1">
                <a:solidFill>
                  <a:srgbClr val="5B7C99"/>
                </a:solidFill>
                <a:latin typeface="+mn-lt"/>
              </a:rPr>
              <a:t>I am tired.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14015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735"/>
              </a:spcAft>
            </a:pPr>
            <a:r>
              <a:rPr sz="2100" b="0" i="0">
                <a:solidFill>
                  <a:srgbClr val="6B6560"/>
                </a:solidFill>
                <a:latin typeface="+mn-lt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414015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35"/>
              </a:spcAft>
            </a:pPr>
            <a:r>
              <a:rPr sz="2100" b="0" i="0">
                <a:solidFill>
                  <a:srgbClr val="C8553D"/>
                </a:solidFill>
                <a:latin typeface="+mn-lt"/>
              </a:rPr>
              <a:t>Estoy cansado.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0" y="2487168"/>
            <a:ext cx="1143000" cy="535559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+mn-lt"/>
              </a:rPr>
              <a:t>ESTAR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90672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35"/>
              </a:spcAft>
            </a:pPr>
            <a:r>
              <a:rPr sz="2100" b="0" i="1">
                <a:solidFill>
                  <a:srgbClr val="5B7C99"/>
                </a:solidFill>
                <a:latin typeface="+mn-lt"/>
              </a:rPr>
              <a:t>The party is at Ana's house.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0906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735"/>
              </a:spcAft>
            </a:pPr>
            <a:r>
              <a:rPr sz="2100" b="0" i="0">
                <a:solidFill>
                  <a:srgbClr val="6B6560"/>
                </a:solidFill>
                <a:latin typeface="+mn-lt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09067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35"/>
              </a:spcAft>
            </a:pPr>
            <a:r>
              <a:rPr sz="2100" b="0" i="0">
                <a:solidFill>
                  <a:srgbClr val="C8553D"/>
                </a:solidFill>
                <a:latin typeface="+mn-lt"/>
              </a:rPr>
              <a:t>La fiesta es en casa de Ana.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0" y="3163824"/>
            <a:ext cx="1143000" cy="535559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+mn-lt"/>
              </a:rPr>
              <a:t>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67327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35"/>
              </a:spcAft>
            </a:pPr>
            <a:r>
              <a:rPr sz="2100" b="0" i="1">
                <a:solidFill>
                  <a:srgbClr val="5B7C99"/>
                </a:solidFill>
                <a:latin typeface="+mn-lt"/>
              </a:rPr>
              <a:t>Ana's house is in Madrid.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767327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735"/>
              </a:spcAft>
            </a:pPr>
            <a:r>
              <a:rPr sz="2100" b="0" i="0">
                <a:solidFill>
                  <a:srgbClr val="6B6560"/>
                </a:solidFill>
                <a:latin typeface="+mn-lt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767327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35"/>
              </a:spcAft>
            </a:pPr>
            <a:r>
              <a:rPr sz="2100" b="0" i="0">
                <a:solidFill>
                  <a:srgbClr val="C8553D"/>
                </a:solidFill>
                <a:latin typeface="+mn-lt"/>
              </a:rPr>
              <a:t>La casa de Ana está en Madrid.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87000" y="3840479"/>
            <a:ext cx="1143000" cy="535559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+mn-lt"/>
              </a:rPr>
              <a:t>ESTAR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43983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35"/>
              </a:spcAft>
            </a:pPr>
            <a:r>
              <a:rPr sz="2100" b="0" i="1">
                <a:solidFill>
                  <a:srgbClr val="5B7C99"/>
                </a:solidFill>
                <a:latin typeface="+mn-lt"/>
              </a:rPr>
              <a:t>The soup is cold.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443983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735"/>
              </a:spcAft>
            </a:pPr>
            <a:r>
              <a:rPr sz="2100" b="0" i="0">
                <a:solidFill>
                  <a:srgbClr val="6B6560"/>
                </a:solidFill>
                <a:latin typeface="+mn-lt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443983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735"/>
              </a:spcAft>
            </a:pPr>
            <a:r>
              <a:rPr sz="2100" b="0" i="0">
                <a:solidFill>
                  <a:srgbClr val="C8553D"/>
                </a:solidFill>
                <a:latin typeface="+mn-lt"/>
              </a:rPr>
              <a:t>La sopa está fría.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4517136"/>
            <a:ext cx="1143000" cy="535559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+mn-lt"/>
              </a:rPr>
              <a:t>ESTAR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2000" b="0" i="1">
                <a:solidFill>
                  <a:srgbClr val="1F2A44"/>
                </a:solidFill>
                <a:latin typeface="+mj-lt"/>
              </a:rPr>
              <a:t>Un verbo en inglés, dos en español. La pregunta clave: </a:t>
            </a:r>
            <a:r>
              <a:rPr sz="2000" b="1" i="1">
                <a:solidFill>
                  <a:srgbClr val="C8553D"/>
                </a:solidFill>
                <a:latin typeface="+mj-lt"/>
              </a:rPr>
              <a:t>¿cómo es?</a:t>
            </a:r>
            <a:r>
              <a:rPr sz="2000" b="0" i="1">
                <a:solidFill>
                  <a:srgbClr val="1F2A44"/>
                </a:solidFill>
                <a:latin typeface="+mj-lt"/>
              </a:rPr>
              <a:t> o </a:t>
            </a:r>
            <a:r>
              <a:rPr sz="2000" b="1" i="1">
                <a:solidFill>
                  <a:srgbClr val="C8553D"/>
                </a:solidFill>
                <a:latin typeface="+mj-lt"/>
              </a:rPr>
              <a:t>¿cómo está?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14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TRUCO MENTAL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Un truco para recordar: DOCTOR y PLACE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66360" cy="416052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1" i="0">
                <a:solidFill>
                  <a:srgbClr val="C8553D"/>
                </a:solidFill>
                <a:latin typeface="+mj-lt"/>
              </a:rPr>
              <a:t>SER = DOCTOR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4663440" cy="3383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D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Description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Es alto.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O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Occupation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Es profesora.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C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Characteristic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Es simpático.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T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Time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Son las tres.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O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Origin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Soy de Perú.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R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Relationship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Es mi hermana.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691640"/>
            <a:ext cx="5166360" cy="416052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11112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1" i="0">
                <a:solidFill>
                  <a:srgbClr val="1F2A44"/>
                </a:solidFill>
                <a:latin typeface="+mj-lt"/>
              </a:rPr>
              <a:t>ESTAR =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377440"/>
            <a:ext cx="4663440" cy="3383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P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Position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Está sentado.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L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Location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Está en casa.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A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Action (-ndo)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Estoy comiendo.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C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Condition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Está enfermo.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E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1">
                <a:solidFill>
                  <a:srgbClr val="5B7C99"/>
                </a:solidFill>
                <a:latin typeface="+mn-lt"/>
              </a:rPr>
              <a:t>Emotion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 </a:t>
            </a:r>
            <a:r>
              <a:rPr sz="2000" b="0" i="0">
                <a:solidFill>
                  <a:srgbClr val="C8553D"/>
                </a:solidFill>
                <a:latin typeface="+mn-lt"/>
              </a:rPr>
              <a:t>Estoy feliz.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15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CAMBIAN DE SIGNIFICADO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No es lo mismo…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nm0a"/>
          <p:cNvSpPr/>
          <p:nvPr/>
        </p:nvSpPr>
        <p:spPr>
          <a:xfrm>
            <a:off x="731520" y="1691640"/>
            <a:ext cx="516636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769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ser aburrido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 =  </a:t>
            </a:r>
            <a:r>
              <a:rPr sz="2200" b="0" i="1">
                <a:solidFill>
                  <a:srgbClr val="5B7C99"/>
                </a:solidFill>
                <a:latin typeface="+mn-lt"/>
              </a:rPr>
              <a:t>boring</a:t>
            </a:r>
          </a:p>
        </p:txBody>
      </p:sp>
      <p:sp>
        <p:nvSpPr>
          <p:cNvPr id="9" name="nm0b"/>
          <p:cNvSpPr/>
          <p:nvPr/>
        </p:nvSpPr>
        <p:spPr>
          <a:xfrm>
            <a:off x="6291072" y="1691640"/>
            <a:ext cx="516636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769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estar aburrido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 =  </a:t>
            </a:r>
            <a:r>
              <a:rPr sz="2200" b="0" i="1">
                <a:solidFill>
                  <a:srgbClr val="5B7C99"/>
                </a:solidFill>
                <a:latin typeface="+mn-lt"/>
              </a:rPr>
              <a:t>bored</a:t>
            </a:r>
          </a:p>
        </p:txBody>
      </p:sp>
      <p:sp>
        <p:nvSpPr>
          <p:cNvPr id="10" name="nm1a"/>
          <p:cNvSpPr/>
          <p:nvPr/>
        </p:nvSpPr>
        <p:spPr>
          <a:xfrm>
            <a:off x="731520" y="2715768"/>
            <a:ext cx="516636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769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ser listo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 =  </a:t>
            </a:r>
            <a:r>
              <a:rPr sz="2200" b="0" i="1">
                <a:solidFill>
                  <a:srgbClr val="5B7C99"/>
                </a:solidFill>
                <a:latin typeface="+mn-lt"/>
              </a:rPr>
              <a:t>clever</a:t>
            </a:r>
          </a:p>
        </p:txBody>
      </p:sp>
      <p:sp>
        <p:nvSpPr>
          <p:cNvPr id="11" name="nm1b"/>
          <p:cNvSpPr/>
          <p:nvPr/>
        </p:nvSpPr>
        <p:spPr>
          <a:xfrm>
            <a:off x="6291072" y="2715768"/>
            <a:ext cx="516636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769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estar listo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 =  </a:t>
            </a:r>
            <a:r>
              <a:rPr sz="2200" b="0" i="1">
                <a:solidFill>
                  <a:srgbClr val="5B7C99"/>
                </a:solidFill>
                <a:latin typeface="+mn-lt"/>
              </a:rPr>
              <a:t>ready</a:t>
            </a:r>
          </a:p>
        </p:txBody>
      </p:sp>
      <p:sp>
        <p:nvSpPr>
          <p:cNvPr id="12" name="nm2a"/>
          <p:cNvSpPr/>
          <p:nvPr/>
        </p:nvSpPr>
        <p:spPr>
          <a:xfrm>
            <a:off x="731520" y="3739896"/>
            <a:ext cx="516636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769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ser malo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 =  </a:t>
            </a:r>
            <a:r>
              <a:rPr sz="2200" b="0" i="1">
                <a:solidFill>
                  <a:srgbClr val="5B7C99"/>
                </a:solidFill>
                <a:latin typeface="+mn-lt"/>
              </a:rPr>
              <a:t>bad (person, product)</a:t>
            </a:r>
          </a:p>
        </p:txBody>
      </p:sp>
      <p:sp>
        <p:nvSpPr>
          <p:cNvPr id="13" name="nm2b"/>
          <p:cNvSpPr/>
          <p:nvPr/>
        </p:nvSpPr>
        <p:spPr>
          <a:xfrm>
            <a:off x="6291072" y="3739896"/>
            <a:ext cx="516636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769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estar malo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 =  </a:t>
            </a:r>
            <a:r>
              <a:rPr sz="2200" b="0" i="1">
                <a:solidFill>
                  <a:srgbClr val="5B7C99"/>
                </a:solidFill>
                <a:latin typeface="+mn-lt"/>
              </a:rPr>
              <a:t>sick</a:t>
            </a:r>
          </a:p>
        </p:txBody>
      </p:sp>
      <p:sp>
        <p:nvSpPr>
          <p:cNvPr id="14" name="nm3a"/>
          <p:cNvSpPr/>
          <p:nvPr/>
        </p:nvSpPr>
        <p:spPr>
          <a:xfrm>
            <a:off x="731520" y="4764024"/>
            <a:ext cx="516636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769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ser rico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 =  </a:t>
            </a:r>
            <a:r>
              <a:rPr sz="2200" b="0" i="1">
                <a:solidFill>
                  <a:srgbClr val="5B7C99"/>
                </a:solidFill>
                <a:latin typeface="+mn-lt"/>
              </a:rPr>
              <a:t>rich</a:t>
            </a:r>
          </a:p>
        </p:txBody>
      </p:sp>
      <p:sp>
        <p:nvSpPr>
          <p:cNvPr id="15" name="nm3b"/>
          <p:cNvSpPr/>
          <p:nvPr/>
        </p:nvSpPr>
        <p:spPr>
          <a:xfrm>
            <a:off x="6291072" y="4764024"/>
            <a:ext cx="516636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0000"/>
              </a:lnSpc>
              <a:spcAft>
                <a:spcPts val="769"/>
              </a:spcAft>
            </a:pPr>
            <a:r>
              <a:rPr sz="2200" b="1" i="0">
                <a:solidFill>
                  <a:srgbClr val="C8553D"/>
                </a:solidFill>
                <a:latin typeface="+mn-lt"/>
              </a:rPr>
              <a:t>estar rico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 =  </a:t>
            </a:r>
            <a:r>
              <a:rPr sz="2200" b="0" i="1">
                <a:solidFill>
                  <a:srgbClr val="5B7C99"/>
                </a:solidFill>
                <a:latin typeface="+mn-lt"/>
              </a:rPr>
              <a:t>tasty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16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TEXTO REAL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Lee y observa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698480" cy="3154680"/>
          </a:xfrm>
          <a:prstGeom prst="roundRect">
            <a:avLst>
              <a:gd name="adj" fmla="val 40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411480" bIns="411480"/>
          <a:lstStyle/>
          <a:p>
            <a:pPr algn="l">
              <a:lnSpc>
                <a:spcPct val="130000"/>
              </a:lnSpc>
              <a:spcAft>
                <a:spcPts val="769"/>
              </a:spcAft>
            </a:pPr>
            <a:r>
              <a:rPr sz="2200" b="0" i="0">
                <a:solidFill>
                  <a:srgbClr val="1F2A44"/>
                </a:solidFill>
                <a:latin typeface="+mn-lt"/>
              </a:rPr>
              <a:t>¡Hola! Me llamo Lucía.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Soy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de Sevilla, pero ahora </a:t>
            </a:r>
            <a:r>
              <a:rPr sz="2200" b="1" i="0" u="sng">
                <a:solidFill>
                  <a:srgbClr val="1F2A44"/>
                </a:solidFill>
                <a:latin typeface="+mn-lt"/>
              </a:rPr>
              <a:t>estoy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en Londres.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Soy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profesora de español y </a:t>
            </a:r>
            <a:r>
              <a:rPr sz="2200" b="1" i="0" u="sng">
                <a:solidFill>
                  <a:srgbClr val="1F2A44"/>
                </a:solidFill>
                <a:latin typeface="+mn-lt"/>
              </a:rPr>
              <a:t>estoy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muy contenta con mi trabajo. Hoy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lunes y </a:t>
            </a:r>
            <a:r>
              <a:rPr sz="2200" b="1" i="0" u="sng">
                <a:solidFill>
                  <a:srgbClr val="1F2A44"/>
                </a:solidFill>
                <a:latin typeface="+mn-lt"/>
              </a:rPr>
              <a:t>estoy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un poco cansada. Mi clase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a las diez y el aula </a:t>
            </a:r>
            <a:r>
              <a:rPr sz="2200" b="1" i="0" u="sng">
                <a:solidFill>
                  <a:srgbClr val="1F2A44"/>
                </a:solidFill>
                <a:latin typeface="+mn-lt"/>
              </a:rPr>
              <a:t>está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en el segundo piso. Mis estudiantes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son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muy simpáticos… ¡y hoy </a:t>
            </a:r>
            <a:r>
              <a:rPr sz="2200" b="1" i="0" u="sng">
                <a:solidFill>
                  <a:srgbClr val="1F2A44"/>
                </a:solidFill>
                <a:latin typeface="+mn-lt"/>
              </a:rPr>
              <a:t>están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nerviosos porque </a:t>
            </a:r>
            <a:r>
              <a:rPr sz="2200" b="1" i="0">
                <a:solidFill>
                  <a:srgbClr val="C8553D"/>
                </a:solidFill>
                <a:latin typeface="+mn-lt"/>
              </a:rPr>
              <a:t>es</a:t>
            </a:r>
            <a:r>
              <a:rPr sz="2200" b="0" i="0">
                <a:solidFill>
                  <a:srgbClr val="1F2A44"/>
                </a:solidFill>
                <a:latin typeface="+mn-lt"/>
              </a:rPr>
              <a:t> día de examen!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560"/>
              </a:spcAft>
            </a:pPr>
            <a:r>
              <a:rPr sz="1600" b="1" i="0">
                <a:solidFill>
                  <a:srgbClr val="C8553D"/>
                </a:solidFill>
                <a:latin typeface="+mn-lt"/>
              </a:rPr>
              <a:t>soy, es, son</a:t>
            </a:r>
            <a:r>
              <a:rPr sz="1600" b="0" i="0">
                <a:solidFill>
                  <a:srgbClr val="1F2A44"/>
                </a:solidFill>
                <a:latin typeface="+mn-lt"/>
              </a:rPr>
              <a:t> = ser      </a:t>
            </a:r>
            <a:r>
              <a:rPr sz="1600" b="1" i="0" u="sng">
                <a:solidFill>
                  <a:srgbClr val="1F2A44"/>
                </a:solidFill>
                <a:latin typeface="+mn-lt"/>
              </a:rPr>
              <a:t>estoy, está, están</a:t>
            </a:r>
            <a:r>
              <a:rPr sz="1600" b="0" i="0">
                <a:solidFill>
                  <a:srgbClr val="1F2A44"/>
                </a:solidFill>
                <a:latin typeface="+mn-lt"/>
              </a:rPr>
              <a:t> = estar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769"/>
              </a:spcAft>
            </a:pPr>
            <a:r>
              <a:rPr sz="2200" b="0" i="1">
                <a:solidFill>
                  <a:srgbClr val="1F2A44"/>
                </a:solidFill>
                <a:latin typeface="+mj-lt"/>
              </a:rPr>
              <a:t>¿Por qué Lucía </a:t>
            </a:r>
            <a:r>
              <a:rPr sz="2200" b="1" i="1">
                <a:solidFill>
                  <a:srgbClr val="C8553D"/>
                </a:solidFill>
                <a:latin typeface="+mj-lt"/>
              </a:rPr>
              <a:t>es</a:t>
            </a:r>
            <a:r>
              <a:rPr sz="2200" b="0" i="1">
                <a:solidFill>
                  <a:srgbClr val="1F2A44"/>
                </a:solidFill>
                <a:latin typeface="+mj-lt"/>
              </a:rPr>
              <a:t> profesora pero </a:t>
            </a:r>
            <a:r>
              <a:rPr sz="2200" b="1" i="1" u="sng">
                <a:solidFill>
                  <a:srgbClr val="1F2A44"/>
                </a:solidFill>
                <a:latin typeface="+mj-lt"/>
              </a:rPr>
              <a:t>está</a:t>
            </a:r>
            <a:r>
              <a:rPr sz="2200" b="0" i="1">
                <a:solidFill>
                  <a:srgbClr val="1F2A44"/>
                </a:solidFill>
                <a:latin typeface="+mj-lt"/>
              </a:rPr>
              <a:t> contenta?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17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PARA ANGLOPARLANTES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¡Ojo! Errores típicos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69848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665"/>
              </a:spcAft>
            </a:pPr>
            <a:r>
              <a:rPr sz="1900" b="0" i="0">
                <a:solidFill>
                  <a:srgbClr val="6B6560"/>
                </a:solidFill>
                <a:latin typeface="+mn-lt"/>
              </a:rPr>
              <a:t>✗  </a:t>
            </a:r>
            <a:r>
              <a:rPr sz="1900" b="0" i="0" strike="sngStrike">
                <a:solidFill>
                  <a:srgbClr val="6B6560"/>
                </a:solidFill>
                <a:latin typeface="+mn-lt"/>
              </a:rPr>
              <a:t>Soy cansado.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665"/>
              </a:spcAft>
            </a:pPr>
            <a:r>
              <a:rPr sz="1900" b="0" i="0">
                <a:solidFill>
                  <a:srgbClr val="1F2A44"/>
                </a:solidFill>
                <a:latin typeface="+mn-lt"/>
              </a:rPr>
              <a:t>✓  </a:t>
            </a:r>
            <a:r>
              <a:rPr sz="1900" b="1" i="0">
                <a:solidFill>
                  <a:srgbClr val="C8553D"/>
                </a:solidFill>
                <a:latin typeface="+mn-lt"/>
              </a:rPr>
              <a:t>Estoy cansado.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9164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489"/>
              </a:spcAft>
            </a:pPr>
            <a:r>
              <a:rPr sz="1400" b="0" i="1">
                <a:solidFill>
                  <a:srgbClr val="5B7C99"/>
                </a:solidFill>
                <a:latin typeface="+mn-lt"/>
              </a:rPr>
              <a:t>A temporary state, not who you 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15768"/>
            <a:ext cx="1069848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1560" y="2715768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665"/>
              </a:spcAft>
            </a:pPr>
            <a:r>
              <a:rPr sz="1900" b="0" i="0">
                <a:solidFill>
                  <a:srgbClr val="6B6560"/>
                </a:solidFill>
                <a:latin typeface="+mn-lt"/>
              </a:rPr>
              <a:t>✗  </a:t>
            </a:r>
            <a:r>
              <a:rPr sz="1900" b="0" i="0" strike="sngStrike">
                <a:solidFill>
                  <a:srgbClr val="6B6560"/>
                </a:solidFill>
                <a:latin typeface="+mn-lt"/>
              </a:rPr>
              <a:t>Estoy profesor.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15768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665"/>
              </a:spcAft>
            </a:pPr>
            <a:r>
              <a:rPr sz="1900" b="0" i="0">
                <a:solidFill>
                  <a:srgbClr val="1F2A44"/>
                </a:solidFill>
                <a:latin typeface="+mn-lt"/>
              </a:rPr>
              <a:t>✓  </a:t>
            </a:r>
            <a:r>
              <a:rPr sz="1900" b="1" i="0">
                <a:solidFill>
                  <a:srgbClr val="C8553D"/>
                </a:solidFill>
                <a:latin typeface="+mn-lt"/>
              </a:rPr>
              <a:t>Soy profesor.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715768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489"/>
              </a:spcAft>
            </a:pPr>
            <a:r>
              <a:rPr sz="1400" b="0" i="1">
                <a:solidFill>
                  <a:srgbClr val="5B7C99"/>
                </a:solidFill>
                <a:latin typeface="+mn-lt"/>
              </a:rPr>
              <a:t>Occupation → 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39896"/>
            <a:ext cx="1069848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51560" y="3739896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665"/>
              </a:spcAft>
            </a:pPr>
            <a:r>
              <a:rPr sz="1900" b="0" i="0">
                <a:solidFill>
                  <a:srgbClr val="6B6560"/>
                </a:solidFill>
                <a:latin typeface="+mn-lt"/>
              </a:rPr>
              <a:t>✗  </a:t>
            </a:r>
            <a:r>
              <a:rPr sz="1900" b="0" i="0" strike="sngStrike">
                <a:solidFill>
                  <a:srgbClr val="6B6560"/>
                </a:solidFill>
                <a:latin typeface="+mn-lt"/>
              </a:rPr>
              <a:t>La fiesta está en mi casa.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739896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665"/>
              </a:spcAft>
            </a:pPr>
            <a:r>
              <a:rPr sz="1900" b="0" i="0">
                <a:solidFill>
                  <a:srgbClr val="1F2A44"/>
                </a:solidFill>
                <a:latin typeface="+mn-lt"/>
              </a:rPr>
              <a:t>✓  </a:t>
            </a:r>
            <a:r>
              <a:rPr sz="1900" b="1" i="0">
                <a:solidFill>
                  <a:srgbClr val="C8553D"/>
                </a:solidFill>
                <a:latin typeface="+mn-lt"/>
              </a:rPr>
              <a:t>La fiesta es en mi casa.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739896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489"/>
              </a:spcAft>
            </a:pPr>
            <a:r>
              <a:rPr sz="1400" b="0" i="1">
                <a:solidFill>
                  <a:srgbClr val="5B7C99"/>
                </a:solidFill>
                <a:latin typeface="+mn-lt"/>
              </a:rPr>
              <a:t>Location of an event → ser.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64024"/>
            <a:ext cx="10698480" cy="86868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4764024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665"/>
              </a:spcAft>
            </a:pPr>
            <a:r>
              <a:rPr sz="1900" b="0" i="0">
                <a:solidFill>
                  <a:srgbClr val="6B6560"/>
                </a:solidFill>
                <a:latin typeface="+mn-lt"/>
              </a:rPr>
              <a:t>✗  </a:t>
            </a:r>
            <a:r>
              <a:rPr sz="1900" b="0" i="0" strike="sngStrike">
                <a:solidFill>
                  <a:srgbClr val="6B6560"/>
                </a:solidFill>
                <a:latin typeface="+mn-lt"/>
              </a:rPr>
              <a:t>Madrid es en España.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764024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665"/>
              </a:spcAft>
            </a:pPr>
            <a:r>
              <a:rPr sz="1900" b="0" i="0">
                <a:solidFill>
                  <a:srgbClr val="1F2A44"/>
                </a:solidFill>
                <a:latin typeface="+mn-lt"/>
              </a:rPr>
              <a:t>✓  </a:t>
            </a:r>
            <a:r>
              <a:rPr sz="1900" b="1" i="0">
                <a:solidFill>
                  <a:srgbClr val="C8553D"/>
                </a:solidFill>
                <a:latin typeface="+mn-lt"/>
              </a:rPr>
              <a:t>Madrid está en España.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764024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489"/>
              </a:spcAft>
            </a:pPr>
            <a:r>
              <a:rPr sz="1400" b="0" i="1">
                <a:solidFill>
                  <a:srgbClr val="5B7C99"/>
                </a:solidFill>
                <a:latin typeface="+mn-lt"/>
              </a:rPr>
              <a:t>Location of a place → estar.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18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CURIOSIDAD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¿Permanente = ser? No siempre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727200" cy="55143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F2A44"/>
                </a:solidFill>
                <a:latin typeface="+mn-lt"/>
              </a:rPr>
              <a:t>Curiosidad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1050"/>
              </a:spcAft>
            </a:pPr>
            <a:r>
              <a:rPr sz="3000" b="0" i="0">
                <a:solidFill>
                  <a:srgbClr val="1F2A44"/>
                </a:solidFill>
                <a:latin typeface="+mj-lt"/>
              </a:rPr>
              <a:t>La muerte es para siempre… pero decimos</a:t>
            </a:r>
          </a:p>
          <a:p>
            <a:pPr algn="l">
              <a:lnSpc>
                <a:spcPct val="120000"/>
              </a:lnSpc>
              <a:spcAft>
                <a:spcPts val="1050"/>
              </a:spcAft>
            </a:pPr>
            <a:r>
              <a:rPr sz="3000" b="1" i="0">
                <a:solidFill>
                  <a:srgbClr val="C8553D"/>
                </a:solidFill>
                <a:latin typeface="+mj-lt"/>
              </a:rPr>
              <a:t>Esta planta está muerta.</a:t>
            </a:r>
            <a:r>
              <a:rPr sz="3000" b="0" i="0">
                <a:solidFill>
                  <a:srgbClr val="1F2A44"/>
                </a:solidFill>
                <a:latin typeface="+mj-lt"/>
              </a:rPr>
              <a:t>   </a:t>
            </a:r>
            <a:r>
              <a:rPr sz="3000" b="0" i="0" strike="sngStrike">
                <a:solidFill>
                  <a:srgbClr val="6B6560"/>
                </a:solidFill>
                <a:latin typeface="+mj-lt"/>
              </a:rPr>
              <a:t>Esta planta es muerta.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1" i="0">
                <a:solidFill>
                  <a:srgbClr val="C8553D"/>
                </a:solidFill>
                <a:latin typeface="+mn-lt"/>
              </a:rPr>
              <a:t>Estar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describe el </a:t>
            </a:r>
            <a:r>
              <a:rPr sz="2000" b="1" i="0">
                <a:solidFill>
                  <a:srgbClr val="1F2A44"/>
                </a:solidFill>
                <a:latin typeface="+mn-lt"/>
              </a:rPr>
              <a:t>resultado de un cambio</a:t>
            </a:r>
            <a:r>
              <a:rPr sz="2000" b="0" i="0">
                <a:solidFill>
                  <a:srgbClr val="1F2A44"/>
                </a:solidFill>
                <a:latin typeface="+mn-lt"/>
              </a:rPr>
              <a:t> (viva → muerta), aunque ese estado ya no cambie.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1">
                <a:solidFill>
                  <a:srgbClr val="5B7C99"/>
                </a:solidFill>
                <a:latin typeface="+mn-lt"/>
              </a:rPr>
              <a:t>That's why “permanent = ser” is a helpful rule of thumb, not a perfect rule.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19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EJERCICIO 1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Rodee la forma correcta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698480" cy="416052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411480" tIns="411480" bIns="411480"/>
          <a:lstStyle/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1.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Yo (soy / estoy) estudiante de español.   →  </a:t>
            </a:r>
            <a:r>
              <a:rPr sz="2100" b="1" i="0">
                <a:solidFill>
                  <a:srgbClr val="C8553D"/>
                </a:solidFill>
                <a:latin typeface="+mn-lt"/>
              </a:rPr>
              <a:t>soy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2.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Hoy mis padres (son / están) en Barcelona.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3.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La clase de yoga (es / está) en el gimnasio.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4.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¡Esta sopa (es / está) muy rica!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5.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Mi novia (es / está) de México.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6.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¿Por qué (eres / estás) triste?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7.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El examen (es / está) el jueves.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8.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Las llaves (son / están) en la mesa.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20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EJERCICIO 2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Complete con ser o estar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698480" cy="416052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411480" tIns="411480" bIns="411480"/>
          <a:lstStyle/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1.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Mi hermano ____ muy alto.   →  </a:t>
            </a:r>
            <a:r>
              <a:rPr sz="2100" b="1" i="0">
                <a:solidFill>
                  <a:srgbClr val="C8553D"/>
                </a:solidFill>
                <a:latin typeface="+mn-lt"/>
              </a:rPr>
              <a:t>es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2.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¿Dónde ____ (tú)? Te estoy esperando.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3.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Nosotros ____ ingleses, pero vivimos en Valencia.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4.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La película ____ aburrida: me voy a dormir.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5.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Los niños ____ aburridos porque llueve.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6.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¿____ lista? ¡Nos vamos!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7.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Ya ____ las ocho.</a:t>
            </a:r>
          </a:p>
          <a:p>
            <a:pPr algn="l">
              <a:lnSpc>
                <a:spcPct val="110000"/>
              </a:lnSpc>
              <a:spcAft>
                <a:spcPts val="798"/>
              </a:spcAft>
            </a:pPr>
            <a:r>
              <a:rPr sz="2100" b="1" i="0">
                <a:solidFill>
                  <a:srgbClr val="1F2A44"/>
                </a:solidFill>
                <a:latin typeface="+mn-lt"/>
              </a:rPr>
              <a:t>8.</a:t>
            </a:r>
            <a:r>
              <a:rPr sz="2100" b="0" i="0">
                <a:solidFill>
                  <a:srgbClr val="1F2A44"/>
                </a:solidFill>
                <a:latin typeface="+mn-lt"/>
              </a:rPr>
              <a:t>  El café ____ frío, ¿lo caliento?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AUTOEVALUACIÓN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Soluciones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1" i="0">
                <a:solidFill>
                  <a:srgbClr val="1F2A44"/>
                </a:solidFill>
                <a:latin typeface="+mj-lt"/>
              </a:rPr>
              <a:t>Ejercicio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12064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2. están (lugar)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3. es (evento)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4. está (sabor ahora)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5. es (origen)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6. estás (emoción)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7. es (evento → cuándo)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8. están (lugar)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6916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1" i="0">
                <a:solidFill>
                  <a:srgbClr val="1F2A44"/>
                </a:solidFill>
                <a:latin typeface="+mj-lt"/>
              </a:rPr>
              <a:t>Ejercicio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148840"/>
            <a:ext cx="512064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2. estás (lugar)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3. somos (origen)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4. es (boring)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5. están (bored)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6. Estás (= preparada)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7. son (hora)</a:t>
            </a:r>
          </a:p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800" b="0" i="0">
                <a:solidFill>
                  <a:srgbClr val="1F2A44"/>
                </a:solidFill>
                <a:latin typeface="+mn-lt"/>
              </a:rPr>
              <a:t>8. está (ahora)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49240"/>
            <a:ext cx="10698480" cy="548640"/>
          </a:xfrm>
          <a:prstGeom prst="roundRect">
            <a:avLst>
              <a:gd name="adj" fmla="val 23333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F2A44"/>
                </a:solidFill>
                <a:latin typeface="+mn-lt"/>
              </a:rPr>
              <a:t>Mis aciertos:  ____ / 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e_logo" descr="logo-ic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91072"/>
            <a:ext cx="274320" cy="274320"/>
          </a:xfrm>
          <a:prstGeom prst="rect">
            <a:avLst/>
          </a:prstGeom>
        </p:spPr>
      </p:pic>
      <p:sp>
        <p:nvSpPr>
          <p:cNvPr id="3" name="pie_marca"/>
          <p:cNvSpPr txBox="1"/>
          <p:nvPr/>
        </p:nvSpPr>
        <p:spPr>
          <a:xfrm>
            <a:off x="1078992" y="6309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Spanishwithalfy</a:t>
            </a:r>
          </a:p>
        </p:txBody>
      </p:sp>
      <p:sp>
        <p:nvSpPr>
          <p:cNvPr id="4" name="pie_num"/>
          <p:cNvSpPr txBox="1"/>
          <p:nvPr/>
        </p:nvSpPr>
        <p:spPr>
          <a:xfrm>
            <a:off x="10545775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0000"/>
              </a:lnSpc>
              <a:spcAft>
                <a:spcPts val="384"/>
              </a:spcAft>
            </a:pPr>
            <a:r>
              <a:rPr sz="1100" b="0" i="0">
                <a:solidFill>
                  <a:srgbClr val="6B6560"/>
                </a:solidFill>
                <a:latin typeface="+mn-lt"/>
              </a:rPr>
              <a:t>22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+mn-lt"/>
              </a:rPr>
              <a:t>SER Y ESTAR</a:t>
            </a:r>
          </a:p>
        </p:txBody>
      </p:sp>
      <p:sp>
        <p:nvSpPr>
          <p:cNvPr id="6" name="!!titulo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i="0">
                <a:solidFill>
                  <a:srgbClr val="1F2A44"/>
                </a:solidFill>
                <a:latin typeface="+mj-lt"/>
              </a:rPr>
              <a:t>Resumen</a:t>
            </a:r>
          </a:p>
        </p:txBody>
      </p:sp>
      <p:sp>
        <p:nvSpPr>
          <p:cNvPr id="7" name="barra"/>
          <p:cNvSpPr/>
          <p:nvPr/>
        </p:nvSpPr>
        <p:spPr>
          <a:xfrm>
            <a:off x="731520" y="137160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69848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/>
                <a:gridCol w="3931920"/>
                <a:gridCol w="3931920"/>
              </a:tblGrid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+mn-lt"/>
                        </a:rPr>
                        <a:t>¿Qué expresa?</a:t>
                      </a:r>
                    </a:p>
                  </a:txBody>
                  <a:tcPr marL="137160" marR="137160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+mn-lt"/>
                        </a:rPr>
                        <a:t>SER</a:t>
                      </a:r>
                    </a:p>
                  </a:txBody>
                  <a:tcPr marL="137160" marR="137160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+mn-lt"/>
                        </a:rPr>
                        <a:t>ESTAR</a:t>
                      </a:r>
                    </a:p>
                  </a:txBody>
                  <a:tcPr marL="137160" marR="137160" marT="36576" marB="36576">
                    <a:solidFill>
                      <a:srgbClr val="1F2A44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F2A44"/>
                          </a:solidFill>
                          <a:latin typeface="+mn-lt"/>
                        </a:rPr>
                        <a:t>Características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normales: Es alegre.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temporales: Está alegre.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F2A44"/>
                          </a:solidFill>
                          <a:latin typeface="+mn-lt"/>
                        </a:rPr>
                        <a:t>Lugar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de un evento: La fiesta es aquí.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de personas y cosas: Está aquí.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F2A44"/>
                          </a:solidFill>
                          <a:latin typeface="+mn-lt"/>
                        </a:rPr>
                        <a:t>Tiempo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hora y fecha: Son las tres.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—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F2A44"/>
                          </a:solidFill>
                          <a:latin typeface="+mn-lt"/>
                        </a:rPr>
                        <a:t>Profesión, origen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Es médica. Es de Perú.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—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F2A44"/>
                          </a:solidFill>
                          <a:latin typeface="+mn-lt"/>
                        </a:rPr>
                        <a:t>Emociones, estados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—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Está cansada. Está muerta.</a:t>
                      </a:r>
                    </a:p>
                  </a:txBody>
                  <a:tcPr marL="137160" marR="13716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F2A44"/>
                          </a:solidFill>
                          <a:latin typeface="+mn-lt"/>
                        </a:rPr>
                        <a:t>Truco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DOCTOR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C8553D"/>
                          </a:solidFill>
                          <a:latin typeface="+mn-lt"/>
                        </a:rPr>
                        <a:t>PLACE</a:t>
                      </a:r>
                    </a:p>
                  </a:txBody>
                  <a:tcPr marL="137160" marR="137160" marT="36576" marB="36576">
                    <a:solidFill>
                      <a:srgbClr val="EFE6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logo" descr="logo-icono-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47" y="1463040"/>
            <a:ext cx="914400" cy="914400"/>
          </a:xfrm>
          <a:prstGeom prst="rect">
            <a:avLst/>
          </a:prstGeom>
        </p:spPr>
      </p:pic>
      <p:sp>
        <p:nvSpPr>
          <p:cNvPr id="3" name="!!portada_titulo"/>
          <p:cNvSpPr txBox="1"/>
          <p:nvPr/>
        </p:nvSpPr>
        <p:spPr>
          <a:xfrm>
            <a:off x="731520" y="2606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1889"/>
              </a:spcAft>
            </a:pPr>
            <a:r>
              <a:rPr sz="5400" b="1" i="0">
                <a:solidFill>
                  <a:srgbClr val="F7F1EA"/>
                </a:solidFill>
                <a:latin typeface="+mj-lt"/>
              </a:rPr>
              <a:t>¡Hasta la próxima!</a:t>
            </a:r>
          </a:p>
        </p:txBody>
      </p:sp>
      <p:sp>
        <p:nvSpPr>
          <p:cNvPr id="4" name="!!portada_sub"/>
          <p:cNvSpPr txBox="1"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769"/>
              </a:spcAft>
            </a:pPr>
            <a:r>
              <a:rPr sz="2200" b="0" i="0">
                <a:solidFill>
                  <a:srgbClr val="F7F1EA"/>
                </a:solidFill>
                <a:latin typeface="+mn-lt"/>
              </a:rPr>
              <a:t>Tarea: escribe 5 frases sobre tu día con </a:t>
            </a:r>
            <a:r>
              <a:rPr sz="2200" b="1" i="0">
                <a:solidFill>
                  <a:srgbClr val="E9B44C"/>
                </a:solidFill>
                <a:latin typeface="+mn-lt"/>
              </a:rPr>
              <a:t>ser</a:t>
            </a:r>
            <a:r>
              <a:rPr sz="2200" b="0" i="0">
                <a:solidFill>
                  <a:srgbClr val="F7F1EA"/>
                </a:solidFill>
                <a:latin typeface="+mn-lt"/>
              </a:rPr>
              <a:t> y </a:t>
            </a:r>
            <a:r>
              <a:rPr sz="2200" b="1" i="0">
                <a:solidFill>
                  <a:srgbClr val="E9B44C"/>
                </a:solidFill>
                <a:latin typeface="+mn-lt"/>
              </a:rPr>
              <a:t>estar</a:t>
            </a:r>
            <a:r>
              <a:rPr sz="2200" b="0" i="0">
                <a:solidFill>
                  <a:srgbClr val="F7F1EA"/>
                </a:solidFill>
                <a:latin typeface="+mn-lt"/>
              </a:rPr>
              <a:t>.</a:t>
            </a:r>
          </a:p>
        </p:txBody>
      </p:sp>
      <p:sp>
        <p:nvSpPr>
          <p:cNvPr id="5" name="!!onda0"/>
          <p:cNvSpPr/>
          <p:nvPr/>
        </p:nvSpPr>
        <p:spPr>
          <a:xfrm>
            <a:off x="0" y="5550464"/>
            <a:ext cx="12191695" cy="511993"/>
          </a:xfrm>
          <a:custGeom>
            <a:avLst/>
            <a:gdLst/>
            <a:ahLst/>
            <a:cxnLst/>
            <a:rect l="l" t="t" r="r" b="b"/>
            <a:pathLst>
              <a:path w="12191695" h="511993">
                <a:moveTo>
                  <a:pt x="0" y="255976"/>
                </a:moveTo>
                <a:lnTo>
                  <a:pt x="101597" y="274727"/>
                </a:lnTo>
                <a:lnTo>
                  <a:pt x="203194" y="293377"/>
                </a:lnTo>
                <a:lnTo>
                  <a:pt x="304792" y="311827"/>
                </a:lnTo>
                <a:lnTo>
                  <a:pt x="406389" y="329977"/>
                </a:lnTo>
                <a:lnTo>
                  <a:pt x="507987" y="347729"/>
                </a:lnTo>
                <a:lnTo>
                  <a:pt x="609584" y="364989"/>
                </a:lnTo>
                <a:lnTo>
                  <a:pt x="711182" y="381663"/>
                </a:lnTo>
                <a:lnTo>
                  <a:pt x="812779" y="397661"/>
                </a:lnTo>
                <a:lnTo>
                  <a:pt x="914377" y="412899"/>
                </a:lnTo>
                <a:lnTo>
                  <a:pt x="1015974" y="427294"/>
                </a:lnTo>
                <a:lnTo>
                  <a:pt x="1117572" y="440769"/>
                </a:lnTo>
                <a:lnTo>
                  <a:pt x="1219169" y="453252"/>
                </a:lnTo>
                <a:lnTo>
                  <a:pt x="1320766" y="464674"/>
                </a:lnTo>
                <a:lnTo>
                  <a:pt x="1422364" y="474976"/>
                </a:lnTo>
                <a:lnTo>
                  <a:pt x="1523961" y="484102"/>
                </a:lnTo>
                <a:lnTo>
                  <a:pt x="1625559" y="492002"/>
                </a:lnTo>
                <a:lnTo>
                  <a:pt x="1727156" y="498635"/>
                </a:lnTo>
                <a:lnTo>
                  <a:pt x="1828754" y="503964"/>
                </a:lnTo>
                <a:lnTo>
                  <a:pt x="1930351" y="507961"/>
                </a:lnTo>
                <a:lnTo>
                  <a:pt x="2031949" y="510605"/>
                </a:lnTo>
                <a:lnTo>
                  <a:pt x="2133546" y="511881"/>
                </a:lnTo>
                <a:lnTo>
                  <a:pt x="2235144" y="511783"/>
                </a:lnTo>
                <a:lnTo>
                  <a:pt x="2336741" y="510311"/>
                </a:lnTo>
                <a:lnTo>
                  <a:pt x="2438339" y="507472"/>
                </a:lnTo>
                <a:lnTo>
                  <a:pt x="2539936" y="503283"/>
                </a:lnTo>
                <a:lnTo>
                  <a:pt x="2641533" y="497766"/>
                </a:lnTo>
                <a:lnTo>
                  <a:pt x="2743131" y="490950"/>
                </a:lnTo>
                <a:lnTo>
                  <a:pt x="2844728" y="482872"/>
                </a:lnTo>
                <a:lnTo>
                  <a:pt x="2946326" y="473575"/>
                </a:lnTo>
                <a:lnTo>
                  <a:pt x="3047923" y="463110"/>
                </a:lnTo>
                <a:lnTo>
                  <a:pt x="3149521" y="451532"/>
                </a:lnTo>
                <a:lnTo>
                  <a:pt x="3251118" y="438903"/>
                </a:lnTo>
                <a:lnTo>
                  <a:pt x="3352716" y="425292"/>
                </a:lnTo>
                <a:lnTo>
                  <a:pt x="3454313" y="410772"/>
                </a:lnTo>
                <a:lnTo>
                  <a:pt x="3555911" y="395421"/>
                </a:lnTo>
                <a:lnTo>
                  <a:pt x="3657508" y="379320"/>
                </a:lnTo>
                <a:lnTo>
                  <a:pt x="3759106" y="362557"/>
                </a:lnTo>
                <a:lnTo>
                  <a:pt x="3860703" y="345221"/>
                </a:lnTo>
                <a:lnTo>
                  <a:pt x="3962300" y="327406"/>
                </a:lnTo>
                <a:lnTo>
                  <a:pt x="4063898" y="309208"/>
                </a:lnTo>
                <a:lnTo>
                  <a:pt x="4165495" y="290723"/>
                </a:lnTo>
                <a:lnTo>
                  <a:pt x="4267093" y="272052"/>
                </a:lnTo>
                <a:lnTo>
                  <a:pt x="4368690" y="253294"/>
                </a:lnTo>
                <a:lnTo>
                  <a:pt x="4470288" y="234551"/>
                </a:lnTo>
                <a:lnTo>
                  <a:pt x="4571885" y="215923"/>
                </a:lnTo>
                <a:lnTo>
                  <a:pt x="4673483" y="197510"/>
                </a:lnTo>
                <a:lnTo>
                  <a:pt x="4775080" y="179411"/>
                </a:lnTo>
                <a:lnTo>
                  <a:pt x="4876678" y="161724"/>
                </a:lnTo>
                <a:lnTo>
                  <a:pt x="4978275" y="144542"/>
                </a:lnTo>
                <a:lnTo>
                  <a:pt x="5079873" y="127960"/>
                </a:lnTo>
                <a:lnTo>
                  <a:pt x="5181470" y="112064"/>
                </a:lnTo>
                <a:lnTo>
                  <a:pt x="5283067" y="96942"/>
                </a:lnTo>
                <a:lnTo>
                  <a:pt x="5384665" y="82674"/>
                </a:lnTo>
                <a:lnTo>
                  <a:pt x="5486262" y="69336"/>
                </a:lnTo>
                <a:lnTo>
                  <a:pt x="5587860" y="57001"/>
                </a:lnTo>
                <a:lnTo>
                  <a:pt x="5689457" y="45735"/>
                </a:lnTo>
                <a:lnTo>
                  <a:pt x="5791055" y="35598"/>
                </a:lnTo>
                <a:lnTo>
                  <a:pt x="5892652" y="26645"/>
                </a:lnTo>
                <a:lnTo>
                  <a:pt x="5994250" y="18923"/>
                </a:lnTo>
                <a:lnTo>
                  <a:pt x="6095847" y="12475"/>
                </a:lnTo>
                <a:lnTo>
                  <a:pt x="6197445" y="7334"/>
                </a:lnTo>
                <a:lnTo>
                  <a:pt x="6299042" y="3529"/>
                </a:lnTo>
                <a:lnTo>
                  <a:pt x="6400639" y="1080"/>
                </a:lnTo>
                <a:lnTo>
                  <a:pt x="6502237" y="0"/>
                </a:lnTo>
                <a:lnTo>
                  <a:pt x="6603834" y="294"/>
                </a:lnTo>
                <a:lnTo>
                  <a:pt x="6705432" y="1962"/>
                </a:lnTo>
                <a:lnTo>
                  <a:pt x="6807029" y="4995"/>
                </a:lnTo>
                <a:lnTo>
                  <a:pt x="6908627" y="9375"/>
                </a:lnTo>
                <a:lnTo>
                  <a:pt x="7010224" y="15080"/>
                </a:lnTo>
                <a:lnTo>
                  <a:pt x="7111822" y="22079"/>
                </a:lnTo>
                <a:lnTo>
                  <a:pt x="7213419" y="30334"/>
                </a:lnTo>
                <a:lnTo>
                  <a:pt x="7315017" y="39801"/>
                </a:lnTo>
                <a:lnTo>
                  <a:pt x="7416614" y="50429"/>
                </a:lnTo>
                <a:lnTo>
                  <a:pt x="7518212" y="62161"/>
                </a:lnTo>
                <a:lnTo>
                  <a:pt x="7619809" y="74934"/>
                </a:lnTo>
                <a:lnTo>
                  <a:pt x="7721406" y="88679"/>
                </a:lnTo>
                <a:lnTo>
                  <a:pt x="7823004" y="103323"/>
                </a:lnTo>
                <a:lnTo>
                  <a:pt x="7924601" y="118787"/>
                </a:lnTo>
                <a:lnTo>
                  <a:pt x="8026199" y="134987"/>
                </a:lnTo>
                <a:lnTo>
                  <a:pt x="8127796" y="151838"/>
                </a:lnTo>
                <a:lnTo>
                  <a:pt x="8229394" y="169248"/>
                </a:lnTo>
                <a:lnTo>
                  <a:pt x="8330991" y="187123"/>
                </a:lnTo>
                <a:lnTo>
                  <a:pt x="8432589" y="205369"/>
                </a:lnTo>
                <a:lnTo>
                  <a:pt x="8534186" y="223886"/>
                </a:lnTo>
                <a:lnTo>
                  <a:pt x="8635784" y="242576"/>
                </a:lnTo>
                <a:lnTo>
                  <a:pt x="8737381" y="261337"/>
                </a:lnTo>
                <a:lnTo>
                  <a:pt x="8838979" y="280070"/>
                </a:lnTo>
                <a:lnTo>
                  <a:pt x="8940576" y="298674"/>
                </a:lnTo>
                <a:lnTo>
                  <a:pt x="9042173" y="317048"/>
                </a:lnTo>
                <a:lnTo>
                  <a:pt x="9143771" y="335094"/>
                </a:lnTo>
                <a:lnTo>
                  <a:pt x="9245368" y="352715"/>
                </a:lnTo>
                <a:lnTo>
                  <a:pt x="9346966" y="369816"/>
                </a:lnTo>
                <a:lnTo>
                  <a:pt x="9448563" y="386306"/>
                </a:lnTo>
                <a:lnTo>
                  <a:pt x="9550161" y="402096"/>
                </a:lnTo>
                <a:lnTo>
                  <a:pt x="9651758" y="417102"/>
                </a:lnTo>
                <a:lnTo>
                  <a:pt x="9753356" y="431241"/>
                </a:lnTo>
                <a:lnTo>
                  <a:pt x="9854953" y="444440"/>
                </a:lnTo>
                <a:lnTo>
                  <a:pt x="9956551" y="456626"/>
                </a:lnTo>
                <a:lnTo>
                  <a:pt x="10058148" y="467735"/>
                </a:lnTo>
                <a:lnTo>
                  <a:pt x="10159746" y="477706"/>
                </a:lnTo>
                <a:lnTo>
                  <a:pt x="10261343" y="486486"/>
                </a:lnTo>
                <a:lnTo>
                  <a:pt x="10362940" y="494028"/>
                </a:lnTo>
                <a:lnTo>
                  <a:pt x="10464538" y="500292"/>
                </a:lnTo>
                <a:lnTo>
                  <a:pt x="10566135" y="505243"/>
                </a:lnTo>
                <a:lnTo>
                  <a:pt x="10667733" y="508855"/>
                </a:lnTo>
                <a:lnTo>
                  <a:pt x="10769330" y="511110"/>
                </a:lnTo>
                <a:lnTo>
                  <a:pt x="10870928" y="511993"/>
                </a:lnTo>
                <a:lnTo>
                  <a:pt x="10972525" y="511502"/>
                </a:lnTo>
                <a:lnTo>
                  <a:pt x="11074123" y="509639"/>
                </a:lnTo>
                <a:lnTo>
                  <a:pt x="11175720" y="506413"/>
                </a:lnTo>
                <a:lnTo>
                  <a:pt x="11277318" y="501841"/>
                </a:lnTo>
                <a:lnTo>
                  <a:pt x="11378915" y="495950"/>
                </a:lnTo>
                <a:lnTo>
                  <a:pt x="11480512" y="488769"/>
                </a:lnTo>
                <a:lnTo>
                  <a:pt x="11582110" y="480338"/>
                </a:lnTo>
                <a:lnTo>
                  <a:pt x="11683707" y="470702"/>
                </a:lnTo>
                <a:lnTo>
                  <a:pt x="11785305" y="459913"/>
                </a:lnTo>
                <a:lnTo>
                  <a:pt x="11886902" y="448028"/>
                </a:lnTo>
                <a:lnTo>
                  <a:pt x="11988500" y="435112"/>
                </a:lnTo>
                <a:lnTo>
                  <a:pt x="12090097" y="421233"/>
                </a:lnTo>
                <a:lnTo>
                  <a:pt x="12191695" y="406467"/>
                </a:lnTo>
              </a:path>
            </a:pathLst>
          </a:custGeom>
          <a:noFill/>
          <a:ln w="127000" cap="rnd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nda1"/>
          <p:cNvSpPr/>
          <p:nvPr/>
        </p:nvSpPr>
        <p:spPr>
          <a:xfrm>
            <a:off x="0" y="5678519"/>
            <a:ext cx="12191695" cy="511932"/>
          </a:xfrm>
          <a:custGeom>
            <a:avLst/>
            <a:gdLst/>
            <a:ahLst/>
            <a:cxnLst/>
            <a:rect l="l" t="t" r="r" b="b"/>
            <a:pathLst>
              <a:path w="12191695" h="511932">
                <a:moveTo>
                  <a:pt x="0" y="439603"/>
                </a:moveTo>
                <a:lnTo>
                  <a:pt x="101597" y="452174"/>
                </a:lnTo>
                <a:lnTo>
                  <a:pt x="203194" y="463690"/>
                </a:lnTo>
                <a:lnTo>
                  <a:pt x="304792" y="474092"/>
                </a:lnTo>
                <a:lnTo>
                  <a:pt x="406389" y="483321"/>
                </a:lnTo>
                <a:lnTo>
                  <a:pt x="507987" y="491329"/>
                </a:lnTo>
                <a:lnTo>
                  <a:pt x="609584" y="498073"/>
                </a:lnTo>
                <a:lnTo>
                  <a:pt x="711182" y="503516"/>
                </a:lnTo>
                <a:lnTo>
                  <a:pt x="812779" y="507629"/>
                </a:lnTo>
                <a:lnTo>
                  <a:pt x="914377" y="510391"/>
                </a:lnTo>
                <a:lnTo>
                  <a:pt x="1015974" y="511786"/>
                </a:lnTo>
                <a:lnTo>
                  <a:pt x="1117572" y="511807"/>
                </a:lnTo>
                <a:lnTo>
                  <a:pt x="1219169" y="510453"/>
                </a:lnTo>
                <a:lnTo>
                  <a:pt x="1320766" y="507733"/>
                </a:lnTo>
                <a:lnTo>
                  <a:pt x="1422364" y="503660"/>
                </a:lnTo>
                <a:lnTo>
                  <a:pt x="1523961" y="498256"/>
                </a:lnTo>
                <a:lnTo>
                  <a:pt x="1625559" y="491551"/>
                </a:lnTo>
                <a:lnTo>
                  <a:pt x="1727156" y="483581"/>
                </a:lnTo>
                <a:lnTo>
                  <a:pt x="1828754" y="474388"/>
                </a:lnTo>
                <a:lnTo>
                  <a:pt x="1930351" y="464021"/>
                </a:lnTo>
                <a:lnTo>
                  <a:pt x="2031949" y="452537"/>
                </a:lnTo>
                <a:lnTo>
                  <a:pt x="2133546" y="439997"/>
                </a:lnTo>
                <a:lnTo>
                  <a:pt x="2235144" y="426468"/>
                </a:lnTo>
                <a:lnTo>
                  <a:pt x="2336741" y="412023"/>
                </a:lnTo>
                <a:lnTo>
                  <a:pt x="2438339" y="396741"/>
                </a:lnTo>
                <a:lnTo>
                  <a:pt x="2539936" y="380701"/>
                </a:lnTo>
                <a:lnTo>
                  <a:pt x="2641533" y="363992"/>
                </a:lnTo>
                <a:lnTo>
                  <a:pt x="2743131" y="346702"/>
                </a:lnTo>
                <a:lnTo>
                  <a:pt x="2844728" y="328925"/>
                </a:lnTo>
                <a:lnTo>
                  <a:pt x="2946326" y="310756"/>
                </a:lnTo>
                <a:lnTo>
                  <a:pt x="3047923" y="292292"/>
                </a:lnTo>
                <a:lnTo>
                  <a:pt x="3149521" y="273633"/>
                </a:lnTo>
                <a:lnTo>
                  <a:pt x="3251118" y="254879"/>
                </a:lnTo>
                <a:lnTo>
                  <a:pt x="3352716" y="236131"/>
                </a:lnTo>
                <a:lnTo>
                  <a:pt x="3454313" y="217489"/>
                </a:lnTo>
                <a:lnTo>
                  <a:pt x="3555911" y="199053"/>
                </a:lnTo>
                <a:lnTo>
                  <a:pt x="3657508" y="180923"/>
                </a:lnTo>
                <a:lnTo>
                  <a:pt x="3759106" y="163196"/>
                </a:lnTo>
                <a:lnTo>
                  <a:pt x="3860703" y="145968"/>
                </a:lnTo>
                <a:lnTo>
                  <a:pt x="3962300" y="129329"/>
                </a:lnTo>
                <a:lnTo>
                  <a:pt x="4063898" y="113371"/>
                </a:lnTo>
                <a:lnTo>
                  <a:pt x="4165495" y="98179"/>
                </a:lnTo>
                <a:lnTo>
                  <a:pt x="4267093" y="83833"/>
                </a:lnTo>
                <a:lnTo>
                  <a:pt x="4368690" y="70413"/>
                </a:lnTo>
                <a:lnTo>
                  <a:pt x="4470288" y="57988"/>
                </a:lnTo>
                <a:lnTo>
                  <a:pt x="4571885" y="46627"/>
                </a:lnTo>
                <a:lnTo>
                  <a:pt x="4673483" y="36390"/>
                </a:lnTo>
                <a:lnTo>
                  <a:pt x="4775080" y="27332"/>
                </a:lnTo>
                <a:lnTo>
                  <a:pt x="4876678" y="19502"/>
                </a:lnTo>
                <a:lnTo>
                  <a:pt x="4978275" y="12942"/>
                </a:lnTo>
                <a:lnTo>
                  <a:pt x="5079873" y="7687"/>
                </a:lnTo>
                <a:lnTo>
                  <a:pt x="5181470" y="3766"/>
                </a:lnTo>
                <a:lnTo>
                  <a:pt x="5283067" y="1199"/>
                </a:lnTo>
                <a:lnTo>
                  <a:pt x="5384665" y="0"/>
                </a:lnTo>
                <a:lnTo>
                  <a:pt x="5486262" y="176"/>
                </a:lnTo>
                <a:lnTo>
                  <a:pt x="5587860" y="1725"/>
                </a:lnTo>
                <a:lnTo>
                  <a:pt x="5689457" y="4640"/>
                </a:lnTo>
                <a:lnTo>
                  <a:pt x="5791055" y="8904"/>
                </a:lnTo>
                <a:lnTo>
                  <a:pt x="5892652" y="14496"/>
                </a:lnTo>
                <a:lnTo>
                  <a:pt x="5994250" y="21384"/>
                </a:lnTo>
                <a:lnTo>
                  <a:pt x="6095847" y="29532"/>
                </a:lnTo>
                <a:lnTo>
                  <a:pt x="6197445" y="38896"/>
                </a:lnTo>
                <a:lnTo>
                  <a:pt x="6299042" y="49426"/>
                </a:lnTo>
                <a:lnTo>
                  <a:pt x="6400639" y="61064"/>
                </a:lnTo>
                <a:lnTo>
                  <a:pt x="6502237" y="73750"/>
                </a:lnTo>
                <a:lnTo>
                  <a:pt x="6603834" y="87414"/>
                </a:lnTo>
                <a:lnTo>
                  <a:pt x="6705432" y="101983"/>
                </a:lnTo>
                <a:lnTo>
                  <a:pt x="6807029" y="117379"/>
                </a:lnTo>
                <a:lnTo>
                  <a:pt x="6908627" y="133520"/>
                </a:lnTo>
                <a:lnTo>
                  <a:pt x="7010224" y="150318"/>
                </a:lnTo>
                <a:lnTo>
                  <a:pt x="7111822" y="167683"/>
                </a:lnTo>
                <a:lnTo>
                  <a:pt x="7213419" y="185522"/>
                </a:lnTo>
                <a:lnTo>
                  <a:pt x="7315017" y="203739"/>
                </a:lnTo>
                <a:lnTo>
                  <a:pt x="7416614" y="222237"/>
                </a:lnTo>
                <a:lnTo>
                  <a:pt x="7518212" y="240916"/>
                </a:lnTo>
                <a:lnTo>
                  <a:pt x="7619809" y="259675"/>
                </a:lnTo>
                <a:lnTo>
                  <a:pt x="7721406" y="278414"/>
                </a:lnTo>
                <a:lnTo>
                  <a:pt x="7823004" y="297033"/>
                </a:lnTo>
                <a:lnTo>
                  <a:pt x="7924601" y="315431"/>
                </a:lnTo>
                <a:lnTo>
                  <a:pt x="8026199" y="333509"/>
                </a:lnTo>
                <a:lnTo>
                  <a:pt x="8127796" y="351170"/>
                </a:lnTo>
                <a:lnTo>
                  <a:pt x="8229394" y="368321"/>
                </a:lnTo>
                <a:lnTo>
                  <a:pt x="8330991" y="384867"/>
                </a:lnTo>
                <a:lnTo>
                  <a:pt x="8432589" y="400721"/>
                </a:lnTo>
                <a:lnTo>
                  <a:pt x="8534186" y="415798"/>
                </a:lnTo>
                <a:lnTo>
                  <a:pt x="8635784" y="430015"/>
                </a:lnTo>
                <a:lnTo>
                  <a:pt x="8737381" y="443298"/>
                </a:lnTo>
                <a:lnTo>
                  <a:pt x="8838979" y="455574"/>
                </a:lnTo>
                <a:lnTo>
                  <a:pt x="8940576" y="466779"/>
                </a:lnTo>
                <a:lnTo>
                  <a:pt x="9042173" y="476850"/>
                </a:lnTo>
                <a:lnTo>
                  <a:pt x="9143771" y="485736"/>
                </a:lnTo>
                <a:lnTo>
                  <a:pt x="9245368" y="493386"/>
                </a:lnTo>
                <a:lnTo>
                  <a:pt x="9346966" y="499762"/>
                </a:lnTo>
                <a:lnTo>
                  <a:pt x="9448563" y="504828"/>
                </a:lnTo>
                <a:lnTo>
                  <a:pt x="9550161" y="508557"/>
                </a:lnTo>
                <a:lnTo>
                  <a:pt x="9651758" y="510930"/>
                </a:lnTo>
                <a:lnTo>
                  <a:pt x="9753356" y="511932"/>
                </a:lnTo>
                <a:lnTo>
                  <a:pt x="9854953" y="511560"/>
                </a:lnTo>
                <a:lnTo>
                  <a:pt x="9956551" y="509815"/>
                </a:lnTo>
                <a:lnTo>
                  <a:pt x="10058148" y="506706"/>
                </a:lnTo>
                <a:lnTo>
                  <a:pt x="10159746" y="502250"/>
                </a:lnTo>
                <a:lnTo>
                  <a:pt x="10261343" y="496472"/>
                </a:lnTo>
                <a:lnTo>
                  <a:pt x="10362940" y="489401"/>
                </a:lnTo>
                <a:lnTo>
                  <a:pt x="10464538" y="481077"/>
                </a:lnTo>
                <a:lnTo>
                  <a:pt x="10566135" y="471543"/>
                </a:lnTo>
                <a:lnTo>
                  <a:pt x="10667733" y="460851"/>
                </a:lnTo>
                <a:lnTo>
                  <a:pt x="10769330" y="449059"/>
                </a:lnTo>
                <a:lnTo>
                  <a:pt x="10870928" y="436229"/>
                </a:lnTo>
                <a:lnTo>
                  <a:pt x="10972525" y="422431"/>
                </a:lnTo>
                <a:lnTo>
                  <a:pt x="11074123" y="407739"/>
                </a:lnTo>
                <a:lnTo>
                  <a:pt x="11175720" y="392231"/>
                </a:lnTo>
                <a:lnTo>
                  <a:pt x="11277318" y="375992"/>
                </a:lnTo>
                <a:lnTo>
                  <a:pt x="11378915" y="359107"/>
                </a:lnTo>
                <a:lnTo>
                  <a:pt x="11480512" y="341669"/>
                </a:lnTo>
                <a:lnTo>
                  <a:pt x="11582110" y="323770"/>
                </a:lnTo>
                <a:lnTo>
                  <a:pt x="11683707" y="305506"/>
                </a:lnTo>
                <a:lnTo>
                  <a:pt x="11785305" y="286977"/>
                </a:lnTo>
                <a:lnTo>
                  <a:pt x="11886902" y="268280"/>
                </a:lnTo>
                <a:lnTo>
                  <a:pt x="11988500" y="249517"/>
                </a:lnTo>
                <a:lnTo>
                  <a:pt x="12090097" y="230789"/>
                </a:lnTo>
                <a:lnTo>
                  <a:pt x="12191695" y="212196"/>
                </a:lnTo>
              </a:path>
            </a:pathLst>
          </a:custGeom>
          <a:noFill/>
          <a:ln w="63500" cap="rnd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nda2"/>
          <p:cNvSpPr/>
          <p:nvPr/>
        </p:nvSpPr>
        <p:spPr>
          <a:xfrm>
            <a:off x="0" y="5806584"/>
            <a:ext cx="12191695" cy="511851"/>
          </a:xfrm>
          <a:custGeom>
            <a:avLst/>
            <a:gdLst/>
            <a:ahLst/>
            <a:cxnLst/>
            <a:rect l="l" t="t" r="r" b="b"/>
            <a:pathLst>
              <a:path w="12191695" h="511851">
                <a:moveTo>
                  <a:pt x="0" y="511810"/>
                </a:moveTo>
                <a:lnTo>
                  <a:pt x="101597" y="510576"/>
                </a:lnTo>
                <a:lnTo>
                  <a:pt x="203194" y="507973"/>
                </a:lnTo>
                <a:lnTo>
                  <a:pt x="304792" y="504016"/>
                </a:lnTo>
                <a:lnTo>
                  <a:pt x="406389" y="498727"/>
                </a:lnTo>
                <a:lnTo>
                  <a:pt x="507987" y="492133"/>
                </a:lnTo>
                <a:lnTo>
                  <a:pt x="609584" y="484270"/>
                </a:lnTo>
                <a:lnTo>
                  <a:pt x="711182" y="475181"/>
                </a:lnTo>
                <a:lnTo>
                  <a:pt x="812779" y="464914"/>
                </a:lnTo>
                <a:lnTo>
                  <a:pt x="914377" y="453524"/>
                </a:lnTo>
                <a:lnTo>
                  <a:pt x="1015974" y="441073"/>
                </a:lnTo>
                <a:lnTo>
                  <a:pt x="1117572" y="427627"/>
                </a:lnTo>
                <a:lnTo>
                  <a:pt x="1219169" y="413258"/>
                </a:lnTo>
                <a:lnTo>
                  <a:pt x="1320766" y="398045"/>
                </a:lnTo>
                <a:lnTo>
                  <a:pt x="1422364" y="382068"/>
                </a:lnTo>
                <a:lnTo>
                  <a:pt x="1523961" y="365413"/>
                </a:lnTo>
                <a:lnTo>
                  <a:pt x="1625559" y="348170"/>
                </a:lnTo>
                <a:lnTo>
                  <a:pt x="1727156" y="330431"/>
                </a:lnTo>
                <a:lnTo>
                  <a:pt x="1828754" y="312292"/>
                </a:lnTo>
                <a:lnTo>
                  <a:pt x="1930351" y="293850"/>
                </a:lnTo>
                <a:lnTo>
                  <a:pt x="2031949" y="275204"/>
                </a:lnTo>
                <a:lnTo>
                  <a:pt x="2133546" y="256454"/>
                </a:lnTo>
                <a:lnTo>
                  <a:pt x="2235144" y="237701"/>
                </a:lnTo>
                <a:lnTo>
                  <a:pt x="2336741" y="219046"/>
                </a:lnTo>
                <a:lnTo>
                  <a:pt x="2438339" y="200589"/>
                </a:lnTo>
                <a:lnTo>
                  <a:pt x="2539936" y="182429"/>
                </a:lnTo>
                <a:lnTo>
                  <a:pt x="2641533" y="164663"/>
                </a:lnTo>
                <a:lnTo>
                  <a:pt x="2743131" y="147387"/>
                </a:lnTo>
                <a:lnTo>
                  <a:pt x="2844728" y="130694"/>
                </a:lnTo>
                <a:lnTo>
                  <a:pt x="2946326" y="114674"/>
                </a:lnTo>
                <a:lnTo>
                  <a:pt x="3047923" y="99412"/>
                </a:lnTo>
                <a:lnTo>
                  <a:pt x="3149521" y="84990"/>
                </a:lnTo>
                <a:lnTo>
                  <a:pt x="3251118" y="71486"/>
                </a:lnTo>
                <a:lnTo>
                  <a:pt x="3352716" y="58973"/>
                </a:lnTo>
                <a:lnTo>
                  <a:pt x="3454313" y="47517"/>
                </a:lnTo>
                <a:lnTo>
                  <a:pt x="3555911" y="37181"/>
                </a:lnTo>
                <a:lnTo>
                  <a:pt x="3657508" y="28019"/>
                </a:lnTo>
                <a:lnTo>
                  <a:pt x="3759106" y="20081"/>
                </a:lnTo>
                <a:lnTo>
                  <a:pt x="3860703" y="13410"/>
                </a:lnTo>
                <a:lnTo>
                  <a:pt x="3962300" y="8041"/>
                </a:lnTo>
                <a:lnTo>
                  <a:pt x="4063898" y="4003"/>
                </a:lnTo>
                <a:lnTo>
                  <a:pt x="4165495" y="1318"/>
                </a:lnTo>
                <a:lnTo>
                  <a:pt x="4267093" y="0"/>
                </a:lnTo>
                <a:lnTo>
                  <a:pt x="4368690" y="57"/>
                </a:lnTo>
                <a:lnTo>
                  <a:pt x="4470288" y="1488"/>
                </a:lnTo>
                <a:lnTo>
                  <a:pt x="4571885" y="4285"/>
                </a:lnTo>
                <a:lnTo>
                  <a:pt x="4673483" y="8434"/>
                </a:lnTo>
                <a:lnTo>
                  <a:pt x="4775080" y="13911"/>
                </a:lnTo>
                <a:lnTo>
                  <a:pt x="4876678" y="20689"/>
                </a:lnTo>
                <a:lnTo>
                  <a:pt x="4978275" y="28729"/>
                </a:lnTo>
                <a:lnTo>
                  <a:pt x="5079873" y="37990"/>
                </a:lnTo>
                <a:lnTo>
                  <a:pt x="5181470" y="48421"/>
                </a:lnTo>
                <a:lnTo>
                  <a:pt x="5283067" y="59966"/>
                </a:lnTo>
                <a:lnTo>
                  <a:pt x="5384665" y="72564"/>
                </a:lnTo>
                <a:lnTo>
                  <a:pt x="5486262" y="86146"/>
                </a:lnTo>
                <a:lnTo>
                  <a:pt x="5587860" y="100640"/>
                </a:lnTo>
                <a:lnTo>
                  <a:pt x="5689457" y="115968"/>
                </a:lnTo>
                <a:lnTo>
                  <a:pt x="5791055" y="132047"/>
                </a:lnTo>
                <a:lnTo>
                  <a:pt x="5892652" y="148792"/>
                </a:lnTo>
                <a:lnTo>
                  <a:pt x="5994250" y="166111"/>
                </a:lnTo>
                <a:lnTo>
                  <a:pt x="6095847" y="183913"/>
                </a:lnTo>
                <a:lnTo>
                  <a:pt x="6197445" y="202102"/>
                </a:lnTo>
                <a:lnTo>
                  <a:pt x="6299042" y="220579"/>
                </a:lnTo>
                <a:lnTo>
                  <a:pt x="6400639" y="239246"/>
                </a:lnTo>
                <a:lnTo>
                  <a:pt x="6502237" y="258002"/>
                </a:lnTo>
                <a:lnTo>
                  <a:pt x="6603834" y="276747"/>
                </a:lnTo>
                <a:lnTo>
                  <a:pt x="6705432" y="295380"/>
                </a:lnTo>
                <a:lnTo>
                  <a:pt x="6807029" y="313801"/>
                </a:lnTo>
                <a:lnTo>
                  <a:pt x="6908627" y="331911"/>
                </a:lnTo>
                <a:lnTo>
                  <a:pt x="7010224" y="349612"/>
                </a:lnTo>
                <a:lnTo>
                  <a:pt x="7111822" y="366810"/>
                </a:lnTo>
                <a:lnTo>
                  <a:pt x="7213419" y="383413"/>
                </a:lnTo>
                <a:lnTo>
                  <a:pt x="7315017" y="399330"/>
                </a:lnTo>
                <a:lnTo>
                  <a:pt x="7416614" y="414477"/>
                </a:lnTo>
                <a:lnTo>
                  <a:pt x="7518212" y="428772"/>
                </a:lnTo>
                <a:lnTo>
                  <a:pt x="7619809" y="442139"/>
                </a:lnTo>
                <a:lnTo>
                  <a:pt x="7721406" y="454505"/>
                </a:lnTo>
                <a:lnTo>
                  <a:pt x="7823004" y="465804"/>
                </a:lnTo>
                <a:lnTo>
                  <a:pt x="7924601" y="475976"/>
                </a:lnTo>
                <a:lnTo>
                  <a:pt x="8026199" y="484966"/>
                </a:lnTo>
                <a:lnTo>
                  <a:pt x="8127796" y="492725"/>
                </a:lnTo>
                <a:lnTo>
                  <a:pt x="8229394" y="499213"/>
                </a:lnTo>
                <a:lnTo>
                  <a:pt x="8330991" y="504393"/>
                </a:lnTo>
                <a:lnTo>
                  <a:pt x="8432589" y="508239"/>
                </a:lnTo>
                <a:lnTo>
                  <a:pt x="8534186" y="510729"/>
                </a:lnTo>
                <a:lnTo>
                  <a:pt x="8635784" y="511851"/>
                </a:lnTo>
                <a:lnTo>
                  <a:pt x="8737381" y="511598"/>
                </a:lnTo>
                <a:lnTo>
                  <a:pt x="8838979" y="509971"/>
                </a:lnTo>
                <a:lnTo>
                  <a:pt x="8940576" y="506980"/>
                </a:lnTo>
                <a:lnTo>
                  <a:pt x="9042173" y="502640"/>
                </a:lnTo>
                <a:lnTo>
                  <a:pt x="9143771" y="496974"/>
                </a:lnTo>
                <a:lnTo>
                  <a:pt x="9245368" y="490014"/>
                </a:lnTo>
                <a:lnTo>
                  <a:pt x="9346966" y="481796"/>
                </a:lnTo>
                <a:lnTo>
                  <a:pt x="9448563" y="472365"/>
                </a:lnTo>
                <a:lnTo>
                  <a:pt x="9550161" y="461772"/>
                </a:lnTo>
                <a:lnTo>
                  <a:pt x="9651758" y="450072"/>
                </a:lnTo>
                <a:lnTo>
                  <a:pt x="9753356" y="437330"/>
                </a:lnTo>
                <a:lnTo>
                  <a:pt x="9854953" y="423612"/>
                </a:lnTo>
                <a:lnTo>
                  <a:pt x="9956551" y="408994"/>
                </a:lnTo>
                <a:lnTo>
                  <a:pt x="10058148" y="393554"/>
                </a:lnTo>
                <a:lnTo>
                  <a:pt x="10159746" y="377374"/>
                </a:lnTo>
                <a:lnTo>
                  <a:pt x="10261343" y="360542"/>
                </a:lnTo>
                <a:lnTo>
                  <a:pt x="10362940" y="343148"/>
                </a:lnTo>
                <a:lnTo>
                  <a:pt x="10464538" y="325285"/>
                </a:lnTo>
                <a:lnTo>
                  <a:pt x="10566135" y="307049"/>
                </a:lnTo>
                <a:lnTo>
                  <a:pt x="10667733" y="288539"/>
                </a:lnTo>
                <a:lnTo>
                  <a:pt x="10769330" y="269853"/>
                </a:lnTo>
                <a:lnTo>
                  <a:pt x="10870928" y="251092"/>
                </a:lnTo>
                <a:lnTo>
                  <a:pt x="10972525" y="232357"/>
                </a:lnTo>
                <a:lnTo>
                  <a:pt x="11074123" y="213748"/>
                </a:lnTo>
                <a:lnTo>
                  <a:pt x="11175720" y="195366"/>
                </a:lnTo>
                <a:lnTo>
                  <a:pt x="11277318" y="177308"/>
                </a:lnTo>
                <a:lnTo>
                  <a:pt x="11378915" y="159673"/>
                </a:lnTo>
                <a:lnTo>
                  <a:pt x="11480512" y="142554"/>
                </a:lnTo>
                <a:lnTo>
                  <a:pt x="11582110" y="126044"/>
                </a:lnTo>
                <a:lnTo>
                  <a:pt x="11683707" y="110232"/>
                </a:lnTo>
                <a:lnTo>
                  <a:pt x="11785305" y="95202"/>
                </a:lnTo>
                <a:lnTo>
                  <a:pt x="11886902" y="81035"/>
                </a:lnTo>
                <a:lnTo>
                  <a:pt x="11988500" y="67807"/>
                </a:lnTo>
                <a:lnTo>
                  <a:pt x="12090097" y="55589"/>
                </a:lnTo>
                <a:lnTo>
                  <a:pt x="12191695" y="44447"/>
                </a:lnTo>
              </a:path>
            </a:pathLst>
          </a:custGeom>
          <a:noFill/>
          <a:ln w="31750" cap="rnd">
            <a:solidFill>
              <a:srgbClr val="F7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anishwithalfy">
      <a:dk1>
        <a:srgbClr val="1F2A44"/>
      </a:dk1>
      <a:lt1>
        <a:srgbClr val="FFFFFF"/>
      </a:lt1>
      <a:dk2>
        <a:srgbClr val="1F2A44"/>
      </a:dk2>
      <a:lt2>
        <a:srgbClr val="F7F1EA"/>
      </a:lt2>
      <a:accent1>
        <a:srgbClr val="C8553D"/>
      </a:accent1>
      <a:accent2>
        <a:srgbClr val="5B7C99"/>
      </a:accent2>
      <a:accent3>
        <a:srgbClr val="E9B44C"/>
      </a:accent3>
      <a:accent4>
        <a:srgbClr val="1F2A44"/>
      </a:accent4>
      <a:accent5>
        <a:srgbClr val="6B6560"/>
      </a:accent5>
      <a:accent6>
        <a:srgbClr val="EFE6DB"/>
      </a:accent6>
      <a:hlink>
        <a:srgbClr val="5B7C99"/>
      </a:hlink>
      <a:folHlink>
        <a:srgbClr val="6B6560"/>
      </a:folHlink>
    </a:clrScheme>
    <a:fontScheme name="Spanishwithalfy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